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alibri" panose="020F0502020204030204" pitchFamily="34" charset="0"/>
      <p:regular r:id="rId11"/>
      <p:bold r:id="rId12"/>
      <p:italic r:id="rId13"/>
      <p:boldItalic r:id="rId14"/>
    </p:embeddedFont>
    <p:embeddedFont>
      <p:font typeface="Modern No. 20" panose="02070704070505020303" pitchFamily="18" charset="0"/>
      <p:regular r:id="rId15"/>
    </p:embeddedFont>
    <p:embeddedFont>
      <p:font typeface="Bell MT" panose="02020503060305020303" pitchFamily="18" charset="0"/>
      <p:regular r:id="rId16"/>
      <p:bold r:id="rId17"/>
      <p:italic r:id="rId18"/>
    </p:embeddedFont>
    <p:embeddedFont>
      <p:font typeface="News Cycle" panose="020B0604020202020204" charset="2"/>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D97B"/>
    <a:srgbClr val="5FFB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9E412E-E8D6-4022-A6EA-C9FC399ED734}">
  <a:tblStyle styleId="{E19E412E-E8D6-4022-A6EA-C9FC399ED73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3" d="100"/>
          <a:sy n="43" d="100"/>
        </p:scale>
        <p:origin x="740"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06912938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 name="Google Shape;6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905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 name="Google Shape;8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1168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30074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404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0579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0614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192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542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4"/>
          <p:cNvSpPr/>
          <p:nvPr/>
        </p:nvSpPr>
        <p:spPr>
          <a:xfrm>
            <a:off x="-26775" y="0"/>
            <a:ext cx="6206391" cy="10324428"/>
          </a:xfrm>
          <a:custGeom>
            <a:avLst/>
            <a:gdLst/>
            <a:ahLst/>
            <a:cxnLst/>
            <a:rect l="l" t="t" r="r" b="b"/>
            <a:pathLst>
              <a:path w="1634336" h="2738575" extrusionOk="0">
                <a:moveTo>
                  <a:pt x="0" y="0"/>
                </a:moveTo>
                <a:lnTo>
                  <a:pt x="1634336" y="0"/>
                </a:lnTo>
                <a:lnTo>
                  <a:pt x="1634336" y="2738575"/>
                </a:lnTo>
                <a:lnTo>
                  <a:pt x="0" y="2738575"/>
                </a:lnTo>
                <a:close/>
              </a:path>
            </a:pathLst>
          </a:custGeom>
          <a:solidFill>
            <a:srgbClr val="2DCD9D"/>
          </a:solidFill>
          <a:ln>
            <a:noFill/>
          </a:ln>
        </p:spPr>
      </p:sp>
      <p:sp>
        <p:nvSpPr>
          <p:cNvPr id="25" name="Google Shape;25;p4"/>
          <p:cNvSpPr/>
          <p:nvPr/>
        </p:nvSpPr>
        <p:spPr>
          <a:xfrm>
            <a:off x="15974209" y="8069538"/>
            <a:ext cx="1742760" cy="1742760"/>
          </a:xfrm>
          <a:custGeom>
            <a:avLst/>
            <a:gdLst/>
            <a:ahLst/>
            <a:cxnLst/>
            <a:rect l="l" t="t" r="r" b="b"/>
            <a:pathLst>
              <a:path w="1742760" h="1742760" extrusionOk="0">
                <a:moveTo>
                  <a:pt x="0" y="0"/>
                </a:moveTo>
                <a:lnTo>
                  <a:pt x="1742761" y="0"/>
                </a:lnTo>
                <a:lnTo>
                  <a:pt x="1742761" y="1742760"/>
                </a:lnTo>
                <a:lnTo>
                  <a:pt x="0" y="1742760"/>
                </a:lnTo>
                <a:lnTo>
                  <a:pt x="0" y="0"/>
                </a:lnTo>
                <a:close/>
              </a:path>
            </a:pathLst>
          </a:custGeom>
          <a:blipFill rotWithShape="1">
            <a:blip r:embed="rId2">
              <a:alphaModFix/>
            </a:blip>
            <a:stretch>
              <a:fillRect/>
            </a:stretch>
          </a:blipFill>
          <a:ln>
            <a:noFill/>
          </a:ln>
        </p:spPr>
      </p:sp>
      <p:sp>
        <p:nvSpPr>
          <p:cNvPr id="26" name="Google Shape;26;p4"/>
          <p:cNvSpPr txBox="1">
            <a:spLocks noGrp="1"/>
          </p:cNvSpPr>
          <p:nvPr>
            <p:ph type="title"/>
          </p:nvPr>
        </p:nvSpPr>
        <p:spPr>
          <a:xfrm>
            <a:off x="7007200" y="1069850"/>
            <a:ext cx="10438800" cy="2011200"/>
          </a:xfrm>
          <a:prstGeom prst="rect">
            <a:avLst/>
          </a:prstGeom>
          <a:noFill/>
          <a:ln>
            <a:noFill/>
          </a:ln>
        </p:spPr>
        <p:txBody>
          <a:bodyPr spcFirstLastPara="1" wrap="square" lIns="91425" tIns="45700" rIns="91425" bIns="45700" anchor="t" anchorCtr="0">
            <a:normAutofit/>
          </a:bodyPr>
          <a:lstStyle>
            <a:lvl1pPr marR="0" lvl="0">
              <a:lnSpc>
                <a:spcPct val="80000"/>
              </a:lnSpc>
              <a:spcBef>
                <a:spcPts val="0"/>
              </a:spcBef>
              <a:spcAft>
                <a:spcPts val="0"/>
              </a:spcAft>
              <a:buClr>
                <a:schemeClr val="dk1"/>
              </a:buClr>
              <a:buSzPts val="8000"/>
              <a:buFont typeface="News Cycle"/>
              <a:buNone/>
              <a:defRPr sz="8000" i="0" u="none" strike="noStrike" cap="none">
                <a:solidFill>
                  <a:schemeClr val="dk1"/>
                </a:solidFill>
                <a:latin typeface="News Cycle"/>
                <a:ea typeface="News Cycle"/>
                <a:cs typeface="News Cycle"/>
                <a:sym typeface="News Cyc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4"/>
          <p:cNvSpPr txBox="1">
            <a:spLocks noGrp="1"/>
          </p:cNvSpPr>
          <p:nvPr>
            <p:ph type="body" idx="1"/>
          </p:nvPr>
        </p:nvSpPr>
        <p:spPr>
          <a:xfrm>
            <a:off x="7163400" y="3507200"/>
            <a:ext cx="9873600" cy="50634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1pPr>
            <a:lvl2pPr marL="914400" marR="0" lvl="1" indent="-355600" algn="l">
              <a:spcBef>
                <a:spcPts val="56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2pPr>
            <a:lvl3pPr marL="1371600" marR="0" lvl="2" indent="-355600" algn="l">
              <a:spcBef>
                <a:spcPts val="48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3pPr>
            <a:lvl4pPr marL="1828800" marR="0" lvl="3"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4pPr>
            <a:lvl5pPr marL="2286000" marR="0" lvl="4"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5pPr>
            <a:lvl6pPr marL="2743200" marR="0" lvl="5"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6pPr>
            <a:lvl7pPr marL="3200400" marR="0" lvl="6"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7pPr>
            <a:lvl8pPr marL="3657600" marR="0" lvl="7"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8pPr>
            <a:lvl9pPr marL="4114800" marR="0" lvl="8"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9pPr>
          </a:lstStyle>
          <a:p>
            <a:endParaRPr/>
          </a:p>
        </p:txBody>
      </p:sp>
      <p:sp>
        <p:nvSpPr>
          <p:cNvPr id="28" name="Google Shape;28;p4"/>
          <p:cNvSpPr>
            <a:spLocks noGrp="1"/>
          </p:cNvSpPr>
          <p:nvPr>
            <p:ph type="pic" idx="2"/>
          </p:nvPr>
        </p:nvSpPr>
        <p:spPr>
          <a:xfrm>
            <a:off x="877425" y="1126325"/>
            <a:ext cx="4398000" cy="8071800"/>
          </a:xfrm>
          <a:prstGeom prst="roundRect">
            <a:avLst>
              <a:gd name="adj" fmla="val 9271"/>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grpSp>
        <p:nvGrpSpPr>
          <p:cNvPr id="30" name="Google Shape;30;p5"/>
          <p:cNvGrpSpPr/>
          <p:nvPr/>
        </p:nvGrpSpPr>
        <p:grpSpPr>
          <a:xfrm>
            <a:off x="12019174" y="-180827"/>
            <a:ext cx="6268868" cy="10468053"/>
            <a:chOff x="0" y="-47625"/>
            <a:chExt cx="1651049" cy="2757000"/>
          </a:xfrm>
        </p:grpSpPr>
        <p:sp>
          <p:nvSpPr>
            <p:cNvPr id="31" name="Google Shape;31;p5"/>
            <p:cNvSpPr/>
            <p:nvPr/>
          </p:nvSpPr>
          <p:spPr>
            <a:xfrm>
              <a:off x="0" y="0"/>
              <a:ext cx="1651049" cy="2709333"/>
            </a:xfrm>
            <a:custGeom>
              <a:avLst/>
              <a:gdLst/>
              <a:ahLst/>
              <a:cxnLst/>
              <a:rect l="l" t="t" r="r" b="b"/>
              <a:pathLst>
                <a:path w="1651049" h="2709333" extrusionOk="0">
                  <a:moveTo>
                    <a:pt x="0" y="0"/>
                  </a:moveTo>
                  <a:lnTo>
                    <a:pt x="1651049" y="0"/>
                  </a:lnTo>
                  <a:lnTo>
                    <a:pt x="1651049" y="2709333"/>
                  </a:lnTo>
                  <a:lnTo>
                    <a:pt x="0" y="2709333"/>
                  </a:lnTo>
                  <a:close/>
                </a:path>
              </a:pathLst>
            </a:custGeom>
            <a:solidFill>
              <a:srgbClr val="2DCD9D"/>
            </a:solidFill>
            <a:ln>
              <a:noFill/>
            </a:ln>
          </p:spPr>
        </p:sp>
        <p:sp>
          <p:nvSpPr>
            <p:cNvPr id="32" name="Google Shape;32;p5"/>
            <p:cNvSpPr txBox="1"/>
            <p:nvPr/>
          </p:nvSpPr>
          <p:spPr>
            <a:xfrm>
              <a:off x="0" y="-47625"/>
              <a:ext cx="1650900" cy="27570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3" name="Google Shape;33;p5"/>
          <p:cNvSpPr/>
          <p:nvPr/>
        </p:nvSpPr>
        <p:spPr>
          <a:xfrm>
            <a:off x="1028700" y="1233120"/>
            <a:ext cx="1784584" cy="1784584"/>
          </a:xfrm>
          <a:custGeom>
            <a:avLst/>
            <a:gdLst/>
            <a:ahLst/>
            <a:cxnLst/>
            <a:rect l="l" t="t" r="r" b="b"/>
            <a:pathLst>
              <a:path w="1784584" h="1784584" extrusionOk="0">
                <a:moveTo>
                  <a:pt x="0" y="0"/>
                </a:moveTo>
                <a:lnTo>
                  <a:pt x="1784584" y="0"/>
                </a:lnTo>
                <a:lnTo>
                  <a:pt x="1784584" y="1784583"/>
                </a:lnTo>
                <a:lnTo>
                  <a:pt x="0" y="1784583"/>
                </a:lnTo>
                <a:lnTo>
                  <a:pt x="0" y="0"/>
                </a:lnTo>
                <a:close/>
              </a:path>
            </a:pathLst>
          </a:custGeom>
          <a:blipFill rotWithShape="1">
            <a:blip r:embed="rId2">
              <a:alphaModFix/>
            </a:blip>
            <a:stretch>
              <a:fillRect/>
            </a:stretch>
          </a:blipFill>
          <a:ln>
            <a:noFill/>
          </a:ln>
        </p:spPr>
      </p:sp>
      <p:sp>
        <p:nvSpPr>
          <p:cNvPr id="34" name="Google Shape;34;p5"/>
          <p:cNvSpPr>
            <a:spLocks noGrp="1"/>
          </p:cNvSpPr>
          <p:nvPr>
            <p:ph type="pic" idx="2"/>
          </p:nvPr>
        </p:nvSpPr>
        <p:spPr>
          <a:xfrm>
            <a:off x="11329075" y="637875"/>
            <a:ext cx="6144600" cy="3806700"/>
          </a:xfrm>
          <a:prstGeom prst="roundRect">
            <a:avLst>
              <a:gd name="adj" fmla="val 9271"/>
            </a:avLst>
          </a:prstGeom>
          <a:noFill/>
          <a:ln>
            <a:noFill/>
          </a:ln>
        </p:spPr>
      </p:sp>
      <p:sp>
        <p:nvSpPr>
          <p:cNvPr id="35" name="Google Shape;35;p5"/>
          <p:cNvSpPr>
            <a:spLocks noGrp="1"/>
          </p:cNvSpPr>
          <p:nvPr>
            <p:ph type="pic" idx="3"/>
          </p:nvPr>
        </p:nvSpPr>
        <p:spPr>
          <a:xfrm>
            <a:off x="9267675" y="5711325"/>
            <a:ext cx="4899600" cy="4285200"/>
          </a:xfrm>
          <a:prstGeom prst="roundRect">
            <a:avLst>
              <a:gd name="adj" fmla="val 9271"/>
            </a:avLst>
          </a:prstGeom>
          <a:noFill/>
          <a:ln>
            <a:noFill/>
          </a:ln>
        </p:spPr>
      </p:sp>
      <p:sp>
        <p:nvSpPr>
          <p:cNvPr id="36" name="Google Shape;36;p5"/>
          <p:cNvSpPr txBox="1">
            <a:spLocks noGrp="1"/>
          </p:cNvSpPr>
          <p:nvPr>
            <p:ph type="title"/>
          </p:nvPr>
        </p:nvSpPr>
        <p:spPr>
          <a:xfrm>
            <a:off x="890275" y="3596275"/>
            <a:ext cx="10438800" cy="2011200"/>
          </a:xfrm>
          <a:prstGeom prst="rect">
            <a:avLst/>
          </a:prstGeom>
          <a:noFill/>
          <a:ln>
            <a:noFill/>
          </a:ln>
        </p:spPr>
        <p:txBody>
          <a:bodyPr spcFirstLastPara="1" wrap="square" lIns="91425" tIns="45700" rIns="91425" bIns="45700" anchor="t" anchorCtr="0">
            <a:normAutofit/>
          </a:bodyPr>
          <a:lstStyle>
            <a:lvl1pPr marR="0" lvl="0">
              <a:lnSpc>
                <a:spcPct val="80000"/>
              </a:lnSpc>
              <a:spcBef>
                <a:spcPts val="0"/>
              </a:spcBef>
              <a:spcAft>
                <a:spcPts val="0"/>
              </a:spcAft>
              <a:buClr>
                <a:schemeClr val="dk1"/>
              </a:buClr>
              <a:buSzPts val="8000"/>
              <a:buFont typeface="News Cycle"/>
              <a:buNone/>
              <a:defRPr sz="8000" i="0" u="none" strike="noStrike" cap="none">
                <a:solidFill>
                  <a:schemeClr val="dk1"/>
                </a:solidFill>
                <a:latin typeface="News Cycle"/>
                <a:ea typeface="News Cycle"/>
                <a:cs typeface="News Cycle"/>
                <a:sym typeface="News Cyc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7" name="Google Shape;37;p5"/>
          <p:cNvSpPr txBox="1">
            <a:spLocks noGrp="1"/>
          </p:cNvSpPr>
          <p:nvPr>
            <p:ph type="body" idx="1"/>
          </p:nvPr>
        </p:nvSpPr>
        <p:spPr>
          <a:xfrm>
            <a:off x="1028700" y="6130650"/>
            <a:ext cx="7763700" cy="35868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1pPr>
            <a:lvl2pPr marL="914400" marR="0" lvl="1" indent="-355600" algn="l">
              <a:spcBef>
                <a:spcPts val="56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2pPr>
            <a:lvl3pPr marL="1371600" marR="0" lvl="2" indent="-355600" algn="l">
              <a:spcBef>
                <a:spcPts val="48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3pPr>
            <a:lvl4pPr marL="1828800" marR="0" lvl="3"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4pPr>
            <a:lvl5pPr marL="2286000" marR="0" lvl="4"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5pPr>
            <a:lvl6pPr marL="2743200" marR="0" lvl="5"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6pPr>
            <a:lvl7pPr marL="3200400" marR="0" lvl="6"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7pPr>
            <a:lvl8pPr marL="3657600" marR="0" lvl="7"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8pPr>
            <a:lvl9pPr marL="4114800" marR="0" lvl="8"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pic>
        <p:nvPicPr>
          <p:cNvPr id="39" name="Google Shape;39;p6"/>
          <p:cNvPicPr preferRelativeResize="0"/>
          <p:nvPr/>
        </p:nvPicPr>
        <p:blipFill rotWithShape="1">
          <a:blip r:embed="rId2">
            <a:alphaModFix/>
          </a:blip>
          <a:srcRect l="28876" b="26024"/>
          <a:stretch/>
        </p:blipFill>
        <p:spPr>
          <a:xfrm>
            <a:off x="0" y="7101025"/>
            <a:ext cx="3063175" cy="3185975"/>
          </a:xfrm>
          <a:prstGeom prst="rect">
            <a:avLst/>
          </a:prstGeom>
          <a:noFill/>
          <a:ln>
            <a:noFill/>
          </a:ln>
        </p:spPr>
      </p:pic>
      <p:grpSp>
        <p:nvGrpSpPr>
          <p:cNvPr id="40" name="Google Shape;40;p6"/>
          <p:cNvGrpSpPr/>
          <p:nvPr/>
        </p:nvGrpSpPr>
        <p:grpSpPr>
          <a:xfrm>
            <a:off x="0" y="2521205"/>
            <a:ext cx="18288118" cy="3892202"/>
            <a:chOff x="0" y="-47625"/>
            <a:chExt cx="4816592" cy="1025100"/>
          </a:xfrm>
        </p:grpSpPr>
        <p:sp>
          <p:nvSpPr>
            <p:cNvPr id="41" name="Google Shape;41;p6"/>
            <p:cNvSpPr/>
            <p:nvPr/>
          </p:nvSpPr>
          <p:spPr>
            <a:xfrm>
              <a:off x="0" y="0"/>
              <a:ext cx="4816592" cy="977355"/>
            </a:xfrm>
            <a:custGeom>
              <a:avLst/>
              <a:gdLst/>
              <a:ahLst/>
              <a:cxnLst/>
              <a:rect l="l" t="t" r="r" b="b"/>
              <a:pathLst>
                <a:path w="4816592" h="977355" extrusionOk="0">
                  <a:moveTo>
                    <a:pt x="0" y="0"/>
                  </a:moveTo>
                  <a:lnTo>
                    <a:pt x="4816592" y="0"/>
                  </a:lnTo>
                  <a:lnTo>
                    <a:pt x="4816592" y="977355"/>
                  </a:lnTo>
                  <a:lnTo>
                    <a:pt x="0" y="977355"/>
                  </a:lnTo>
                  <a:close/>
                </a:path>
              </a:pathLst>
            </a:custGeom>
            <a:solidFill>
              <a:srgbClr val="2DCD9D"/>
            </a:solidFill>
            <a:ln>
              <a:noFill/>
            </a:ln>
          </p:spPr>
        </p:sp>
        <p:sp>
          <p:nvSpPr>
            <p:cNvPr id="42" name="Google Shape;42;p6"/>
            <p:cNvSpPr txBox="1"/>
            <p:nvPr/>
          </p:nvSpPr>
          <p:spPr>
            <a:xfrm>
              <a:off x="0" y="-47625"/>
              <a:ext cx="4816500" cy="10251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 name="Google Shape;43;p6"/>
          <p:cNvSpPr/>
          <p:nvPr/>
        </p:nvSpPr>
        <p:spPr>
          <a:xfrm>
            <a:off x="1057275" y="692369"/>
            <a:ext cx="672662" cy="672662"/>
          </a:xfrm>
          <a:custGeom>
            <a:avLst/>
            <a:gdLst/>
            <a:ahLst/>
            <a:cxnLst/>
            <a:rect l="l" t="t" r="r" b="b"/>
            <a:pathLst>
              <a:path w="672662" h="672662" extrusionOk="0">
                <a:moveTo>
                  <a:pt x="0" y="0"/>
                </a:moveTo>
                <a:lnTo>
                  <a:pt x="672662" y="0"/>
                </a:lnTo>
                <a:lnTo>
                  <a:pt x="672662" y="672662"/>
                </a:lnTo>
                <a:lnTo>
                  <a:pt x="0" y="672662"/>
                </a:lnTo>
                <a:lnTo>
                  <a:pt x="0" y="0"/>
                </a:lnTo>
                <a:close/>
              </a:path>
            </a:pathLst>
          </a:custGeom>
          <a:blipFill rotWithShape="1">
            <a:blip r:embed="rId3">
              <a:alphaModFix/>
            </a:blip>
            <a:stretch>
              <a:fillRect/>
            </a:stretch>
          </a:blipFill>
          <a:ln>
            <a:noFill/>
          </a:ln>
        </p:spPr>
      </p:sp>
      <p:sp>
        <p:nvSpPr>
          <p:cNvPr id="44" name="Google Shape;44;p6"/>
          <p:cNvSpPr>
            <a:spLocks noGrp="1"/>
          </p:cNvSpPr>
          <p:nvPr>
            <p:ph type="pic" idx="2"/>
          </p:nvPr>
        </p:nvSpPr>
        <p:spPr>
          <a:xfrm>
            <a:off x="1150600" y="3122500"/>
            <a:ext cx="4782600" cy="2860800"/>
          </a:xfrm>
          <a:prstGeom prst="roundRect">
            <a:avLst>
              <a:gd name="adj" fmla="val 9271"/>
            </a:avLst>
          </a:prstGeom>
          <a:noFill/>
          <a:ln>
            <a:noFill/>
          </a:ln>
        </p:spPr>
      </p:sp>
      <p:sp>
        <p:nvSpPr>
          <p:cNvPr id="45" name="Google Shape;45;p6"/>
          <p:cNvSpPr>
            <a:spLocks noGrp="1"/>
          </p:cNvSpPr>
          <p:nvPr>
            <p:ph type="pic" idx="3"/>
          </p:nvPr>
        </p:nvSpPr>
        <p:spPr>
          <a:xfrm>
            <a:off x="6752763" y="3122500"/>
            <a:ext cx="4782600" cy="2860800"/>
          </a:xfrm>
          <a:prstGeom prst="roundRect">
            <a:avLst>
              <a:gd name="adj" fmla="val 9271"/>
            </a:avLst>
          </a:prstGeom>
          <a:noFill/>
          <a:ln>
            <a:noFill/>
          </a:ln>
        </p:spPr>
      </p:sp>
      <p:sp>
        <p:nvSpPr>
          <p:cNvPr id="46" name="Google Shape;46;p6"/>
          <p:cNvSpPr>
            <a:spLocks noGrp="1"/>
          </p:cNvSpPr>
          <p:nvPr>
            <p:ph type="pic" idx="4"/>
          </p:nvPr>
        </p:nvSpPr>
        <p:spPr>
          <a:xfrm>
            <a:off x="12354938" y="3122500"/>
            <a:ext cx="4782600" cy="2860800"/>
          </a:xfrm>
          <a:prstGeom prst="roundRect">
            <a:avLst>
              <a:gd name="adj" fmla="val 9271"/>
            </a:avLst>
          </a:prstGeom>
          <a:noFill/>
          <a:ln>
            <a:noFill/>
          </a:ln>
        </p:spPr>
      </p:sp>
      <p:sp>
        <p:nvSpPr>
          <p:cNvPr id="47" name="Google Shape;47;p6"/>
          <p:cNvSpPr txBox="1">
            <a:spLocks noGrp="1"/>
          </p:cNvSpPr>
          <p:nvPr>
            <p:ph type="title"/>
          </p:nvPr>
        </p:nvSpPr>
        <p:spPr>
          <a:xfrm>
            <a:off x="1105525" y="692375"/>
            <a:ext cx="16077000" cy="1317600"/>
          </a:xfrm>
          <a:prstGeom prst="rect">
            <a:avLst/>
          </a:prstGeom>
          <a:noFill/>
          <a:ln>
            <a:noFill/>
          </a:ln>
        </p:spPr>
        <p:txBody>
          <a:bodyPr spcFirstLastPara="1" wrap="square" lIns="91425" tIns="45700" rIns="91425" bIns="45700" anchor="t" anchorCtr="0">
            <a:normAutofit/>
          </a:bodyPr>
          <a:lstStyle>
            <a:lvl1pPr marR="0" lvl="0" algn="ctr">
              <a:lnSpc>
                <a:spcPct val="80000"/>
              </a:lnSpc>
              <a:spcBef>
                <a:spcPts val="0"/>
              </a:spcBef>
              <a:spcAft>
                <a:spcPts val="0"/>
              </a:spcAft>
              <a:buClr>
                <a:schemeClr val="dk1"/>
              </a:buClr>
              <a:buSzPts val="8000"/>
              <a:buFont typeface="News Cycle"/>
              <a:buNone/>
              <a:defRPr sz="8000" i="0" u="none" strike="noStrike" cap="none">
                <a:solidFill>
                  <a:schemeClr val="dk1"/>
                </a:solidFill>
                <a:latin typeface="News Cycle"/>
                <a:ea typeface="News Cycle"/>
                <a:cs typeface="News Cycle"/>
                <a:sym typeface="News Cyc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8" name="Google Shape;48;p6"/>
          <p:cNvSpPr txBox="1">
            <a:spLocks noGrp="1"/>
          </p:cNvSpPr>
          <p:nvPr>
            <p:ph type="body" idx="1"/>
          </p:nvPr>
        </p:nvSpPr>
        <p:spPr>
          <a:xfrm>
            <a:off x="1150600" y="6770125"/>
            <a:ext cx="4782600" cy="28608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1pPr>
            <a:lvl2pPr marL="914400" marR="0" lvl="1" indent="-355600" algn="l">
              <a:spcBef>
                <a:spcPts val="56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2pPr>
            <a:lvl3pPr marL="1371600" marR="0" lvl="2" indent="-355600" algn="l">
              <a:spcBef>
                <a:spcPts val="48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3pPr>
            <a:lvl4pPr marL="1828800" marR="0" lvl="3"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4pPr>
            <a:lvl5pPr marL="2286000" marR="0" lvl="4"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5pPr>
            <a:lvl6pPr marL="2743200" marR="0" lvl="5"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6pPr>
            <a:lvl7pPr marL="3200400" marR="0" lvl="6"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7pPr>
            <a:lvl8pPr marL="3657600" marR="0" lvl="7"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8pPr>
            <a:lvl9pPr marL="4114800" marR="0" lvl="8"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9pPr>
          </a:lstStyle>
          <a:p>
            <a:endParaRPr/>
          </a:p>
        </p:txBody>
      </p:sp>
      <p:sp>
        <p:nvSpPr>
          <p:cNvPr id="49" name="Google Shape;49;p6"/>
          <p:cNvSpPr txBox="1">
            <a:spLocks noGrp="1"/>
          </p:cNvSpPr>
          <p:nvPr>
            <p:ph type="body" idx="5"/>
          </p:nvPr>
        </p:nvSpPr>
        <p:spPr>
          <a:xfrm>
            <a:off x="6752775" y="6770125"/>
            <a:ext cx="4782600" cy="28608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1pPr>
            <a:lvl2pPr marL="914400" marR="0" lvl="1" indent="-355600" algn="l" rtl="0">
              <a:spcBef>
                <a:spcPts val="56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2pPr>
            <a:lvl3pPr marL="1371600" marR="0" lvl="2" indent="-355600" algn="l" rtl="0">
              <a:spcBef>
                <a:spcPts val="48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3pPr>
            <a:lvl4pPr marL="1828800" marR="0" lvl="3"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4pPr>
            <a:lvl5pPr marL="2286000" marR="0" lvl="4"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5pPr>
            <a:lvl6pPr marL="2743200" marR="0" lvl="5"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6pPr>
            <a:lvl7pPr marL="3200400" marR="0" lvl="6"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7pPr>
            <a:lvl8pPr marL="3657600" marR="0" lvl="7"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8pPr>
            <a:lvl9pPr marL="4114800" marR="0" lvl="8"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9pPr>
          </a:lstStyle>
          <a:p>
            <a:endParaRPr/>
          </a:p>
        </p:txBody>
      </p:sp>
      <p:sp>
        <p:nvSpPr>
          <p:cNvPr id="50" name="Google Shape;50;p6"/>
          <p:cNvSpPr txBox="1">
            <a:spLocks noGrp="1"/>
          </p:cNvSpPr>
          <p:nvPr>
            <p:ph type="body" idx="6"/>
          </p:nvPr>
        </p:nvSpPr>
        <p:spPr>
          <a:xfrm>
            <a:off x="12354950" y="6770125"/>
            <a:ext cx="4782600" cy="2860800"/>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1pPr>
            <a:lvl2pPr marL="914400" marR="0" lvl="1" indent="-355600" algn="l" rtl="0">
              <a:spcBef>
                <a:spcPts val="56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2pPr>
            <a:lvl3pPr marL="1371600" marR="0" lvl="2" indent="-355600" algn="l" rtl="0">
              <a:spcBef>
                <a:spcPts val="48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3pPr>
            <a:lvl4pPr marL="1828800" marR="0" lvl="3"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4pPr>
            <a:lvl5pPr marL="2286000" marR="0" lvl="4"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5pPr>
            <a:lvl6pPr marL="2743200" marR="0" lvl="5"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6pPr>
            <a:lvl7pPr marL="3200400" marR="0" lvl="6"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7pPr>
            <a:lvl8pPr marL="3657600" marR="0" lvl="7"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8pPr>
            <a:lvl9pPr marL="4114800" marR="0" lvl="8"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grpSp>
        <p:nvGrpSpPr>
          <p:cNvPr id="52" name="Google Shape;52;p7"/>
          <p:cNvGrpSpPr/>
          <p:nvPr/>
        </p:nvGrpSpPr>
        <p:grpSpPr>
          <a:xfrm>
            <a:off x="-26772" y="4197689"/>
            <a:ext cx="18315107" cy="6089468"/>
            <a:chOff x="0" y="-47625"/>
            <a:chExt cx="4823700" cy="1603800"/>
          </a:xfrm>
        </p:grpSpPr>
        <p:sp>
          <p:nvSpPr>
            <p:cNvPr id="53" name="Google Shape;53;p7"/>
            <p:cNvSpPr/>
            <p:nvPr/>
          </p:nvSpPr>
          <p:spPr>
            <a:xfrm>
              <a:off x="0" y="0"/>
              <a:ext cx="4823644" cy="1556144"/>
            </a:xfrm>
            <a:custGeom>
              <a:avLst/>
              <a:gdLst/>
              <a:ahLst/>
              <a:cxnLst/>
              <a:rect l="l" t="t" r="r" b="b"/>
              <a:pathLst>
                <a:path w="4823644" h="1556144" extrusionOk="0">
                  <a:moveTo>
                    <a:pt x="0" y="0"/>
                  </a:moveTo>
                  <a:lnTo>
                    <a:pt x="4823644" y="0"/>
                  </a:lnTo>
                  <a:lnTo>
                    <a:pt x="4823644" y="1556144"/>
                  </a:lnTo>
                  <a:lnTo>
                    <a:pt x="0" y="1556144"/>
                  </a:lnTo>
                  <a:close/>
                </a:path>
              </a:pathLst>
            </a:custGeom>
            <a:solidFill>
              <a:srgbClr val="2DCD9D"/>
            </a:solidFill>
            <a:ln>
              <a:noFill/>
            </a:ln>
          </p:spPr>
        </p:sp>
        <p:sp>
          <p:nvSpPr>
            <p:cNvPr id="54" name="Google Shape;54;p7"/>
            <p:cNvSpPr txBox="1"/>
            <p:nvPr/>
          </p:nvSpPr>
          <p:spPr>
            <a:xfrm>
              <a:off x="0" y="-47625"/>
              <a:ext cx="4823700" cy="16038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5" name="Google Shape;55;p7"/>
          <p:cNvSpPr/>
          <p:nvPr/>
        </p:nvSpPr>
        <p:spPr>
          <a:xfrm>
            <a:off x="447220" y="399215"/>
            <a:ext cx="1672695" cy="1672695"/>
          </a:xfrm>
          <a:custGeom>
            <a:avLst/>
            <a:gdLst/>
            <a:ahLst/>
            <a:cxnLst/>
            <a:rect l="l" t="t" r="r" b="b"/>
            <a:pathLst>
              <a:path w="1672695" h="1672695" extrusionOk="0">
                <a:moveTo>
                  <a:pt x="0" y="0"/>
                </a:moveTo>
                <a:lnTo>
                  <a:pt x="1672695" y="0"/>
                </a:lnTo>
                <a:lnTo>
                  <a:pt x="1672695" y="1672695"/>
                </a:lnTo>
                <a:lnTo>
                  <a:pt x="0" y="1672695"/>
                </a:lnTo>
                <a:lnTo>
                  <a:pt x="0" y="0"/>
                </a:lnTo>
                <a:close/>
              </a:path>
            </a:pathLst>
          </a:custGeom>
          <a:blipFill rotWithShape="1">
            <a:blip r:embed="rId2">
              <a:alphaModFix/>
            </a:blip>
            <a:stretch>
              <a:fillRect/>
            </a:stretch>
          </a:blipFill>
          <a:ln>
            <a:noFill/>
          </a:ln>
        </p:spPr>
      </p:sp>
      <p:sp>
        <p:nvSpPr>
          <p:cNvPr id="56" name="Google Shape;56;p7"/>
          <p:cNvSpPr txBox="1">
            <a:spLocks noGrp="1"/>
          </p:cNvSpPr>
          <p:nvPr>
            <p:ph type="title"/>
          </p:nvPr>
        </p:nvSpPr>
        <p:spPr>
          <a:xfrm>
            <a:off x="2928050" y="622800"/>
            <a:ext cx="5389500" cy="3331500"/>
          </a:xfrm>
          <a:prstGeom prst="rect">
            <a:avLst/>
          </a:prstGeom>
          <a:noFill/>
          <a:ln>
            <a:noFill/>
          </a:ln>
        </p:spPr>
        <p:txBody>
          <a:bodyPr spcFirstLastPara="1" wrap="square" lIns="91425" tIns="45700" rIns="91425" bIns="45700" anchor="t" anchorCtr="0">
            <a:normAutofit/>
          </a:bodyPr>
          <a:lstStyle>
            <a:lvl1pPr marR="0" lvl="0">
              <a:lnSpc>
                <a:spcPct val="80000"/>
              </a:lnSpc>
              <a:spcBef>
                <a:spcPts val="0"/>
              </a:spcBef>
              <a:spcAft>
                <a:spcPts val="0"/>
              </a:spcAft>
              <a:buClr>
                <a:schemeClr val="dk1"/>
              </a:buClr>
              <a:buSzPts val="8000"/>
              <a:buFont typeface="News Cycle"/>
              <a:buNone/>
              <a:defRPr sz="8000" i="0" u="none" strike="noStrike" cap="none">
                <a:solidFill>
                  <a:schemeClr val="dk1"/>
                </a:solidFill>
                <a:latin typeface="News Cycle"/>
                <a:ea typeface="News Cycle"/>
                <a:cs typeface="News Cycle"/>
                <a:sym typeface="News Cyc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 name="Google Shape;57;p7"/>
          <p:cNvSpPr txBox="1">
            <a:spLocks noGrp="1"/>
          </p:cNvSpPr>
          <p:nvPr>
            <p:ph type="body" idx="1"/>
          </p:nvPr>
        </p:nvSpPr>
        <p:spPr>
          <a:xfrm>
            <a:off x="9495600" y="622800"/>
            <a:ext cx="7763700" cy="30195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1pPr>
            <a:lvl2pPr marL="914400" marR="0" lvl="1" indent="-355600" algn="l">
              <a:spcBef>
                <a:spcPts val="56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2pPr>
            <a:lvl3pPr marL="1371600" marR="0" lvl="2" indent="-355600" algn="l">
              <a:spcBef>
                <a:spcPts val="48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3pPr>
            <a:lvl4pPr marL="1828800" marR="0" lvl="3"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4pPr>
            <a:lvl5pPr marL="2286000" marR="0" lvl="4"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5pPr>
            <a:lvl6pPr marL="2743200" marR="0" lvl="5"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6pPr>
            <a:lvl7pPr marL="3200400" marR="0" lvl="6"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7pPr>
            <a:lvl8pPr marL="3657600" marR="0" lvl="7"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8pPr>
            <a:lvl9pPr marL="4114800" marR="0" lvl="8" indent="-355600" algn="l">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9pPr>
          </a:lstStyle>
          <a:p>
            <a:endParaRPr/>
          </a:p>
        </p:txBody>
      </p:sp>
      <p:sp>
        <p:nvSpPr>
          <p:cNvPr id="58" name="Google Shape;58;p7"/>
          <p:cNvSpPr>
            <a:spLocks noGrp="1"/>
          </p:cNvSpPr>
          <p:nvPr>
            <p:ph type="pic" idx="2"/>
          </p:nvPr>
        </p:nvSpPr>
        <p:spPr>
          <a:xfrm>
            <a:off x="734725" y="5139475"/>
            <a:ext cx="6252000" cy="4439400"/>
          </a:xfrm>
          <a:prstGeom prst="roundRect">
            <a:avLst>
              <a:gd name="adj" fmla="val 9271"/>
            </a:avLst>
          </a:prstGeom>
          <a:noFill/>
          <a:ln>
            <a:noFill/>
          </a:ln>
        </p:spPr>
      </p:sp>
      <p:sp>
        <p:nvSpPr>
          <p:cNvPr id="59" name="Google Shape;59;p7"/>
          <p:cNvSpPr>
            <a:spLocks noGrp="1"/>
          </p:cNvSpPr>
          <p:nvPr>
            <p:ph type="pic" idx="3"/>
          </p:nvPr>
        </p:nvSpPr>
        <p:spPr>
          <a:xfrm>
            <a:off x="7378300" y="5139475"/>
            <a:ext cx="10126500" cy="4439400"/>
          </a:xfrm>
          <a:prstGeom prst="roundRect">
            <a:avLst>
              <a:gd name="adj" fmla="val 9271"/>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8"/>
          <p:cNvSpPr/>
          <p:nvPr/>
        </p:nvSpPr>
        <p:spPr>
          <a:xfrm>
            <a:off x="4327226" y="7800243"/>
            <a:ext cx="3168781" cy="3168781"/>
          </a:xfrm>
          <a:custGeom>
            <a:avLst/>
            <a:gdLst/>
            <a:ahLst/>
            <a:cxnLst/>
            <a:rect l="l" t="t" r="r" b="b"/>
            <a:pathLst>
              <a:path w="3168781" h="3168781" extrusionOk="0">
                <a:moveTo>
                  <a:pt x="0" y="0"/>
                </a:moveTo>
                <a:lnTo>
                  <a:pt x="3168781" y="0"/>
                </a:lnTo>
                <a:lnTo>
                  <a:pt x="3168781" y="3168782"/>
                </a:lnTo>
                <a:lnTo>
                  <a:pt x="0" y="3168782"/>
                </a:lnTo>
                <a:lnTo>
                  <a:pt x="0" y="0"/>
                </a:lnTo>
                <a:close/>
              </a:path>
            </a:pathLst>
          </a:custGeom>
          <a:blipFill rotWithShape="1">
            <a:blip r:embed="rId2">
              <a:alphaModFix/>
            </a:blip>
            <a:stretch>
              <a:fillRect/>
            </a:stretch>
          </a:blipFill>
          <a:ln>
            <a:noFill/>
          </a:ln>
        </p:spPr>
      </p:sp>
      <p:sp>
        <p:nvSpPr>
          <p:cNvPr id="62" name="Google Shape;62;p8"/>
          <p:cNvSpPr txBox="1">
            <a:spLocks noGrp="1"/>
          </p:cNvSpPr>
          <p:nvPr>
            <p:ph type="title"/>
          </p:nvPr>
        </p:nvSpPr>
        <p:spPr>
          <a:xfrm>
            <a:off x="9862700" y="1736325"/>
            <a:ext cx="5389500" cy="3331500"/>
          </a:xfrm>
          <a:prstGeom prst="rect">
            <a:avLst/>
          </a:prstGeom>
          <a:noFill/>
          <a:ln>
            <a:noFill/>
          </a:ln>
        </p:spPr>
        <p:txBody>
          <a:bodyPr spcFirstLastPara="1" wrap="square" lIns="91425" tIns="45700" rIns="91425" bIns="45700" anchor="t" anchorCtr="0">
            <a:normAutofit/>
          </a:bodyPr>
          <a:lstStyle>
            <a:lvl1pPr marR="0" lvl="0">
              <a:lnSpc>
                <a:spcPct val="80000"/>
              </a:lnSpc>
              <a:spcBef>
                <a:spcPts val="0"/>
              </a:spcBef>
              <a:spcAft>
                <a:spcPts val="0"/>
              </a:spcAft>
              <a:buClr>
                <a:srgbClr val="FFF7E8"/>
              </a:buClr>
              <a:buSzPts val="8000"/>
              <a:buFont typeface="News Cycle"/>
              <a:buNone/>
              <a:defRPr sz="8000" i="0" u="none" strike="noStrike" cap="none">
                <a:solidFill>
                  <a:srgbClr val="FFF7E8"/>
                </a:solidFill>
                <a:latin typeface="News Cycle"/>
                <a:ea typeface="News Cycle"/>
                <a:cs typeface="News Cycle"/>
                <a:sym typeface="News Cycle"/>
              </a:defRPr>
            </a:lvl1pPr>
            <a:lvl2pPr lvl="1">
              <a:spcBef>
                <a:spcPts val="0"/>
              </a:spcBef>
              <a:spcAft>
                <a:spcPts val="0"/>
              </a:spcAft>
              <a:buClr>
                <a:srgbClr val="FFF7E8"/>
              </a:buClr>
              <a:buSzPts val="1400"/>
              <a:buNone/>
              <a:defRPr sz="1800">
                <a:solidFill>
                  <a:srgbClr val="FFF7E8"/>
                </a:solidFill>
              </a:defRPr>
            </a:lvl2pPr>
            <a:lvl3pPr lvl="2">
              <a:spcBef>
                <a:spcPts val="0"/>
              </a:spcBef>
              <a:spcAft>
                <a:spcPts val="0"/>
              </a:spcAft>
              <a:buClr>
                <a:srgbClr val="FFF7E8"/>
              </a:buClr>
              <a:buSzPts val="1400"/>
              <a:buNone/>
              <a:defRPr sz="1800">
                <a:solidFill>
                  <a:srgbClr val="FFF7E8"/>
                </a:solidFill>
              </a:defRPr>
            </a:lvl3pPr>
            <a:lvl4pPr lvl="3">
              <a:spcBef>
                <a:spcPts val="0"/>
              </a:spcBef>
              <a:spcAft>
                <a:spcPts val="0"/>
              </a:spcAft>
              <a:buClr>
                <a:srgbClr val="FFF7E8"/>
              </a:buClr>
              <a:buSzPts val="1400"/>
              <a:buNone/>
              <a:defRPr sz="1800">
                <a:solidFill>
                  <a:srgbClr val="FFF7E8"/>
                </a:solidFill>
              </a:defRPr>
            </a:lvl4pPr>
            <a:lvl5pPr lvl="4">
              <a:spcBef>
                <a:spcPts val="0"/>
              </a:spcBef>
              <a:spcAft>
                <a:spcPts val="0"/>
              </a:spcAft>
              <a:buClr>
                <a:srgbClr val="FFF7E8"/>
              </a:buClr>
              <a:buSzPts val="1400"/>
              <a:buNone/>
              <a:defRPr sz="1800">
                <a:solidFill>
                  <a:srgbClr val="FFF7E8"/>
                </a:solidFill>
              </a:defRPr>
            </a:lvl5pPr>
            <a:lvl6pPr lvl="5">
              <a:spcBef>
                <a:spcPts val="0"/>
              </a:spcBef>
              <a:spcAft>
                <a:spcPts val="0"/>
              </a:spcAft>
              <a:buClr>
                <a:srgbClr val="FFF7E8"/>
              </a:buClr>
              <a:buSzPts val="1400"/>
              <a:buNone/>
              <a:defRPr sz="1800">
                <a:solidFill>
                  <a:srgbClr val="FFF7E8"/>
                </a:solidFill>
              </a:defRPr>
            </a:lvl6pPr>
            <a:lvl7pPr lvl="6">
              <a:spcBef>
                <a:spcPts val="0"/>
              </a:spcBef>
              <a:spcAft>
                <a:spcPts val="0"/>
              </a:spcAft>
              <a:buClr>
                <a:srgbClr val="FFF7E8"/>
              </a:buClr>
              <a:buSzPts val="1400"/>
              <a:buNone/>
              <a:defRPr sz="1800">
                <a:solidFill>
                  <a:srgbClr val="FFF7E8"/>
                </a:solidFill>
              </a:defRPr>
            </a:lvl7pPr>
            <a:lvl8pPr lvl="7">
              <a:spcBef>
                <a:spcPts val="0"/>
              </a:spcBef>
              <a:spcAft>
                <a:spcPts val="0"/>
              </a:spcAft>
              <a:buClr>
                <a:srgbClr val="FFF7E8"/>
              </a:buClr>
              <a:buSzPts val="1400"/>
              <a:buNone/>
              <a:defRPr sz="1800">
                <a:solidFill>
                  <a:srgbClr val="FFF7E8"/>
                </a:solidFill>
              </a:defRPr>
            </a:lvl8pPr>
            <a:lvl9pPr lvl="8">
              <a:spcBef>
                <a:spcPts val="0"/>
              </a:spcBef>
              <a:spcAft>
                <a:spcPts val="0"/>
              </a:spcAft>
              <a:buClr>
                <a:srgbClr val="FFF7E8"/>
              </a:buClr>
              <a:buSzPts val="1400"/>
              <a:buNone/>
              <a:defRPr sz="1800">
                <a:solidFill>
                  <a:srgbClr val="FFF7E8"/>
                </a:solidFill>
              </a:defRPr>
            </a:lvl9pPr>
          </a:lstStyle>
          <a:p>
            <a:endParaRPr/>
          </a:p>
        </p:txBody>
      </p:sp>
      <p:sp>
        <p:nvSpPr>
          <p:cNvPr id="63" name="Google Shape;63;p8"/>
          <p:cNvSpPr txBox="1">
            <a:spLocks noGrp="1"/>
          </p:cNvSpPr>
          <p:nvPr>
            <p:ph type="body" idx="1"/>
          </p:nvPr>
        </p:nvSpPr>
        <p:spPr>
          <a:xfrm>
            <a:off x="9862700" y="5531175"/>
            <a:ext cx="7763700" cy="3019500"/>
          </a:xfrm>
          <a:prstGeom prst="rect">
            <a:avLst/>
          </a:prstGeom>
          <a:noFill/>
          <a:ln>
            <a:noFill/>
          </a:ln>
        </p:spPr>
        <p:txBody>
          <a:bodyPr spcFirstLastPara="1" wrap="square" lIns="91425" tIns="45700" rIns="91425" bIns="45700" anchor="t" anchorCtr="0">
            <a:normAutofit/>
          </a:bodyPr>
          <a:lstStyle>
            <a:lvl1pPr marL="457200" marR="0" lvl="0" indent="-355600" algn="l">
              <a:spcBef>
                <a:spcPts val="64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1pPr>
            <a:lvl2pPr marL="914400" marR="0" lvl="1" indent="-355600" algn="l">
              <a:spcBef>
                <a:spcPts val="56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2pPr>
            <a:lvl3pPr marL="1371600" marR="0" lvl="2" indent="-355600" algn="l">
              <a:spcBef>
                <a:spcPts val="48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3pPr>
            <a:lvl4pPr marL="1828800" marR="0" lvl="3" indent="-355600" algn="l">
              <a:spcBef>
                <a:spcPts val="40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4pPr>
            <a:lvl5pPr marL="2286000" marR="0" lvl="4" indent="-355600" algn="l">
              <a:spcBef>
                <a:spcPts val="40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5pPr>
            <a:lvl6pPr marL="2743200" marR="0" lvl="5" indent="-355600" algn="l">
              <a:spcBef>
                <a:spcPts val="40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6pPr>
            <a:lvl7pPr marL="3200400" marR="0" lvl="6" indent="-355600" algn="l">
              <a:spcBef>
                <a:spcPts val="40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7pPr>
            <a:lvl8pPr marL="3657600" marR="0" lvl="7" indent="-355600" algn="l">
              <a:spcBef>
                <a:spcPts val="40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8pPr>
            <a:lvl9pPr marL="4114800" marR="0" lvl="8" indent="-355600" algn="l">
              <a:spcBef>
                <a:spcPts val="400"/>
              </a:spcBef>
              <a:spcAft>
                <a:spcPts val="0"/>
              </a:spcAft>
              <a:buClr>
                <a:srgbClr val="FFF7E8"/>
              </a:buClr>
              <a:buSzPts val="2000"/>
              <a:buFont typeface="News Cycle"/>
              <a:buChar char="•"/>
              <a:defRPr sz="2000" i="0" u="none" strike="noStrike" cap="none">
                <a:solidFill>
                  <a:srgbClr val="FFF7E8"/>
                </a:solidFill>
                <a:latin typeface="News Cycle"/>
                <a:ea typeface="News Cycle"/>
                <a:cs typeface="News Cycle"/>
                <a:sym typeface="News Cycle"/>
              </a:defRPr>
            </a:lvl9pPr>
          </a:lstStyle>
          <a:p>
            <a:endParaRPr/>
          </a:p>
        </p:txBody>
      </p:sp>
      <p:sp>
        <p:nvSpPr>
          <p:cNvPr id="64" name="Google Shape;64;p8"/>
          <p:cNvSpPr>
            <a:spLocks noGrp="1"/>
          </p:cNvSpPr>
          <p:nvPr>
            <p:ph type="pic" idx="2"/>
          </p:nvPr>
        </p:nvSpPr>
        <p:spPr>
          <a:xfrm>
            <a:off x="4327225" y="606500"/>
            <a:ext cx="4899600" cy="3805200"/>
          </a:xfrm>
          <a:prstGeom prst="roundRect">
            <a:avLst>
              <a:gd name="adj" fmla="val 9271"/>
            </a:avLst>
          </a:prstGeom>
          <a:noFill/>
          <a:ln>
            <a:noFill/>
          </a:ln>
        </p:spPr>
      </p:sp>
      <p:sp>
        <p:nvSpPr>
          <p:cNvPr id="65" name="Google Shape;65;p8"/>
          <p:cNvSpPr>
            <a:spLocks noGrp="1"/>
          </p:cNvSpPr>
          <p:nvPr>
            <p:ph type="pic" idx="3"/>
          </p:nvPr>
        </p:nvSpPr>
        <p:spPr>
          <a:xfrm>
            <a:off x="781925" y="4796400"/>
            <a:ext cx="6762600" cy="4794600"/>
          </a:xfrm>
          <a:prstGeom prst="roundRect">
            <a:avLst>
              <a:gd name="adj" fmla="val 9271"/>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rmAutofit/>
          </a:bodyPr>
          <a:lstStyle>
            <a:lvl1pPr marR="0" lvl="0" rtl="0">
              <a:spcBef>
                <a:spcPts val="0"/>
              </a:spcBef>
              <a:spcAft>
                <a:spcPts val="0"/>
              </a:spcAft>
              <a:buClr>
                <a:schemeClr val="dk1"/>
              </a:buClr>
              <a:buSzPts val="4400"/>
              <a:buFont typeface="News Cycle"/>
              <a:buNone/>
              <a:defRPr sz="4400" i="0" u="none" strike="noStrike" cap="none">
                <a:solidFill>
                  <a:schemeClr val="dk1"/>
                </a:solidFill>
                <a:latin typeface="News Cycle"/>
                <a:ea typeface="News Cycle"/>
                <a:cs typeface="News Cycle"/>
                <a:sym typeface="News Cyc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1pPr>
            <a:lvl2pPr marL="914400" marR="0" lvl="1" indent="-355600" algn="l" rtl="0">
              <a:spcBef>
                <a:spcPts val="56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2pPr>
            <a:lvl3pPr marL="1371600" marR="0" lvl="2" indent="-355600" algn="l" rtl="0">
              <a:spcBef>
                <a:spcPts val="48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3pPr>
            <a:lvl4pPr marL="1828800" marR="0" lvl="3"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4pPr>
            <a:lvl5pPr marL="2286000" marR="0" lvl="4"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5pPr>
            <a:lvl6pPr marL="2743200" marR="0" lvl="5"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6pPr>
            <a:lvl7pPr marL="3200400" marR="0" lvl="6"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7pPr>
            <a:lvl8pPr marL="3657600" marR="0" lvl="7"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8pPr>
            <a:lvl9pPr marL="4114800" marR="0" lvl="8" indent="-355600" algn="l" rtl="0">
              <a:spcBef>
                <a:spcPts val="400"/>
              </a:spcBef>
              <a:spcAft>
                <a:spcPts val="0"/>
              </a:spcAft>
              <a:buClr>
                <a:schemeClr val="dk1"/>
              </a:buClr>
              <a:buSzPts val="2000"/>
              <a:buFont typeface="News Cycle"/>
              <a:buChar char="•"/>
              <a:defRPr sz="2000" i="0" u="none" strike="noStrike" cap="none">
                <a:solidFill>
                  <a:schemeClr val="dk1"/>
                </a:solidFill>
                <a:latin typeface="News Cycle"/>
                <a:ea typeface="News Cycle"/>
                <a:cs typeface="News Cycle"/>
                <a:sym typeface="News Cycle"/>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1" name="Google Shape;71;p9"/>
          <p:cNvSpPr/>
          <p:nvPr/>
        </p:nvSpPr>
        <p:spPr>
          <a:xfrm>
            <a:off x="16055520" y="162676"/>
            <a:ext cx="1616229" cy="1535495"/>
          </a:xfrm>
          <a:custGeom>
            <a:avLst/>
            <a:gdLst/>
            <a:ahLst/>
            <a:cxnLst/>
            <a:rect l="l" t="t" r="r" b="b"/>
            <a:pathLst>
              <a:path w="1742760" h="1742760" extrusionOk="0">
                <a:moveTo>
                  <a:pt x="0" y="0"/>
                </a:moveTo>
                <a:lnTo>
                  <a:pt x="1742760" y="0"/>
                </a:lnTo>
                <a:lnTo>
                  <a:pt x="1742760" y="1742760"/>
                </a:lnTo>
                <a:lnTo>
                  <a:pt x="0" y="1742760"/>
                </a:lnTo>
                <a:lnTo>
                  <a:pt x="0" y="0"/>
                </a:lnTo>
                <a:close/>
              </a:path>
            </a:pathLst>
          </a:custGeom>
          <a:blipFill rotWithShape="1">
            <a:blip r:embed="rId3">
              <a:alphaModFix/>
            </a:blip>
            <a:stretch>
              <a:fillRect/>
            </a:stretch>
          </a:blipFill>
          <a:ln>
            <a:noFill/>
          </a:ln>
        </p:spPr>
      </p:sp>
      <p:grpSp>
        <p:nvGrpSpPr>
          <p:cNvPr id="72" name="Google Shape;72;p9"/>
          <p:cNvGrpSpPr/>
          <p:nvPr/>
        </p:nvGrpSpPr>
        <p:grpSpPr>
          <a:xfrm>
            <a:off x="120053" y="2041477"/>
            <a:ext cx="10433022" cy="1460674"/>
            <a:chOff x="0" y="-38100"/>
            <a:chExt cx="2323806" cy="367400"/>
          </a:xfrm>
        </p:grpSpPr>
        <p:sp>
          <p:nvSpPr>
            <p:cNvPr id="73" name="Google Shape;73;p9"/>
            <p:cNvSpPr/>
            <p:nvPr/>
          </p:nvSpPr>
          <p:spPr>
            <a:xfrm>
              <a:off x="0" y="0"/>
              <a:ext cx="2323806" cy="329300"/>
            </a:xfrm>
            <a:custGeom>
              <a:avLst/>
              <a:gdLst/>
              <a:ahLst/>
              <a:cxnLst/>
              <a:rect l="l" t="t" r="r" b="b"/>
              <a:pathLst>
                <a:path w="2323806" h="329300" extrusionOk="0">
                  <a:moveTo>
                    <a:pt x="17549" y="0"/>
                  </a:moveTo>
                  <a:lnTo>
                    <a:pt x="2306257" y="0"/>
                  </a:lnTo>
                  <a:cubicBezTo>
                    <a:pt x="2315949" y="0"/>
                    <a:pt x="2323806" y="7857"/>
                    <a:pt x="2323806" y="17549"/>
                  </a:cubicBezTo>
                  <a:lnTo>
                    <a:pt x="2323806" y="311751"/>
                  </a:lnTo>
                  <a:cubicBezTo>
                    <a:pt x="2323806" y="321443"/>
                    <a:pt x="2315949" y="329300"/>
                    <a:pt x="2306257" y="329300"/>
                  </a:cubicBezTo>
                  <a:lnTo>
                    <a:pt x="17549" y="329300"/>
                  </a:lnTo>
                  <a:cubicBezTo>
                    <a:pt x="7857" y="329300"/>
                    <a:pt x="0" y="321443"/>
                    <a:pt x="0" y="311751"/>
                  </a:cubicBezTo>
                  <a:lnTo>
                    <a:pt x="0" y="17549"/>
                  </a:lnTo>
                  <a:cubicBezTo>
                    <a:pt x="0" y="7857"/>
                    <a:pt x="7857" y="0"/>
                    <a:pt x="17549"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txBox="1"/>
            <p:nvPr/>
          </p:nvSpPr>
          <p:spPr>
            <a:xfrm>
              <a:off x="0" y="-38100"/>
              <a:ext cx="2323806" cy="367400"/>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r>
                <a:rPr lang="en-IN" sz="3600" b="0" i="0" u="none" strike="noStrike" cap="none" dirty="0">
                  <a:solidFill>
                    <a:schemeClr val="bg1"/>
                  </a:solidFill>
                  <a:latin typeface="Bell MT" panose="02020503060305020303" pitchFamily="18" charset="0"/>
                  <a:ea typeface="Calibri"/>
                  <a:cs typeface="Calibri"/>
                  <a:sym typeface="Calibri"/>
                </a:rPr>
                <a:t>Project Name:-  </a:t>
              </a:r>
              <a:r>
                <a:rPr lang="en-IN" sz="3600" b="0" i="0" u="none" strike="noStrike" cap="none" dirty="0" err="1">
                  <a:solidFill>
                    <a:schemeClr val="bg1"/>
                  </a:solidFill>
                  <a:latin typeface="Bell MT" panose="02020503060305020303" pitchFamily="18" charset="0"/>
                  <a:ea typeface="Calibri"/>
                  <a:cs typeface="Calibri"/>
                  <a:sym typeface="Calibri"/>
                </a:rPr>
                <a:t>Medsumm</a:t>
              </a:r>
              <a:endParaRPr lang="en-IN" sz="3600" b="0" i="0" u="none" strike="noStrike" cap="none" dirty="0">
                <a:solidFill>
                  <a:schemeClr val="bg1"/>
                </a:solidFill>
                <a:latin typeface="Bell MT" panose="02020503060305020303" pitchFamily="18" charset="0"/>
                <a:ea typeface="Calibri"/>
                <a:cs typeface="Calibri"/>
                <a:sym typeface="Calibri"/>
              </a:endParaRPr>
            </a:p>
          </p:txBody>
        </p:sp>
      </p:grpSp>
      <p:sp>
        <p:nvSpPr>
          <p:cNvPr id="3" name="TextBox 2">
            <a:extLst>
              <a:ext uri="{FF2B5EF4-FFF2-40B4-BE49-F238E27FC236}">
                <a16:creationId xmlns="" xmlns:a16="http://schemas.microsoft.com/office/drawing/2014/main" id="{87BC2872-D0A7-4374-8E77-FFFD4C76489A}"/>
              </a:ext>
            </a:extLst>
          </p:cNvPr>
          <p:cNvSpPr txBox="1"/>
          <p:nvPr/>
        </p:nvSpPr>
        <p:spPr>
          <a:xfrm>
            <a:off x="50446" y="4271324"/>
            <a:ext cx="13148719" cy="2123658"/>
          </a:xfrm>
          <a:prstGeom prst="rect">
            <a:avLst/>
          </a:prstGeom>
          <a:noFill/>
        </p:spPr>
        <p:txBody>
          <a:bodyPr wrap="square" rtlCol="0">
            <a:spAutoFit/>
          </a:bodyPr>
          <a:lstStyle/>
          <a:p>
            <a:pPr marL="571500" indent="-571500">
              <a:buFont typeface="Arial" panose="020B0604020202020204" pitchFamily="34" charset="0"/>
              <a:buChar char="•"/>
            </a:pPr>
            <a:r>
              <a:rPr lang="en-US" sz="4400" dirty="0" smtClean="0">
                <a:latin typeface="Modern No. 20" panose="02070704070505020303" pitchFamily="18" charset="0"/>
              </a:rPr>
              <a:t> </a:t>
            </a:r>
            <a:r>
              <a:rPr lang="en-US" sz="4400" dirty="0">
                <a:latin typeface="Modern No. 20" panose="02070704070505020303" pitchFamily="18" charset="0"/>
              </a:rPr>
              <a:t>Personal Health Record </a:t>
            </a:r>
            <a:endParaRPr lang="en-US" sz="4400" dirty="0" smtClean="0">
              <a:latin typeface="Modern No. 20" panose="02070704070505020303" pitchFamily="18" charset="0"/>
            </a:endParaRPr>
          </a:p>
          <a:p>
            <a:r>
              <a:rPr lang="en-US" sz="4400" dirty="0" smtClean="0">
                <a:latin typeface="Modern No. 20" panose="02070704070505020303" pitchFamily="18" charset="0"/>
              </a:rPr>
              <a:t>     Aggregator &amp; </a:t>
            </a:r>
            <a:r>
              <a:rPr lang="en-US" sz="4400" dirty="0">
                <a:latin typeface="Modern No. 20" panose="02070704070505020303" pitchFamily="18" charset="0"/>
              </a:rPr>
              <a:t>Pre-Consultation </a:t>
            </a:r>
            <a:endParaRPr lang="en-US" sz="4400" dirty="0" smtClean="0">
              <a:latin typeface="Modern No. 20" panose="02070704070505020303" pitchFamily="18" charset="0"/>
            </a:endParaRPr>
          </a:p>
          <a:p>
            <a:r>
              <a:rPr lang="en-US" sz="4400" dirty="0" smtClean="0">
                <a:latin typeface="Modern No. 20" panose="02070704070505020303" pitchFamily="18" charset="0"/>
              </a:rPr>
              <a:t>     Summary </a:t>
            </a:r>
            <a:r>
              <a:rPr lang="en-US" sz="4400" dirty="0">
                <a:latin typeface="Modern No. 20" panose="02070704070505020303" pitchFamily="18" charset="0"/>
              </a:rPr>
              <a:t>Tool</a:t>
            </a:r>
            <a:endParaRPr lang="en-IN" sz="4400" dirty="0">
              <a:latin typeface="Modern No. 20" panose="02070704070505020303" pitchFamily="18" charset="0"/>
            </a:endParaRPr>
          </a:p>
        </p:txBody>
      </p:sp>
      <p:sp>
        <p:nvSpPr>
          <p:cNvPr id="5" name="Rectangle: Rounded Corners 4">
            <a:extLst>
              <a:ext uri="{FF2B5EF4-FFF2-40B4-BE49-F238E27FC236}">
                <a16:creationId xmlns="" xmlns:a16="http://schemas.microsoft.com/office/drawing/2014/main" id="{240B829E-FC2C-1D6A-3D6C-9FE740ECC0C4}"/>
              </a:ext>
            </a:extLst>
          </p:cNvPr>
          <p:cNvSpPr/>
          <p:nvPr/>
        </p:nvSpPr>
        <p:spPr>
          <a:xfrm>
            <a:off x="50446" y="8484010"/>
            <a:ext cx="5511490" cy="707886"/>
          </a:xfrm>
          <a:prstGeom prst="roundRect">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0" indent="-571500" algn="ctr">
              <a:buFont typeface="Wingdings" panose="05000000000000000000" pitchFamily="2" charset="2"/>
              <a:buChar char="q"/>
            </a:pPr>
            <a:r>
              <a:rPr lang="en-IN" sz="3600" dirty="0" smtClean="0">
                <a:latin typeface="Modern No. 20" panose="02070704070505020303" pitchFamily="18" charset="0"/>
              </a:rPr>
              <a:t>KULDEEP PARMAR</a:t>
            </a:r>
            <a:endParaRPr lang="en-IN" sz="3600" dirty="0">
              <a:latin typeface="Modern No. 20" panose="02070704070505020303" pitchFamily="18" charset="0"/>
            </a:endParaRPr>
          </a:p>
        </p:txBody>
      </p:sp>
      <p:sp>
        <p:nvSpPr>
          <p:cNvPr id="7" name="Google Shape;71;p9">
            <a:extLst>
              <a:ext uri="{FF2B5EF4-FFF2-40B4-BE49-F238E27FC236}">
                <a16:creationId xmlns="" xmlns:a16="http://schemas.microsoft.com/office/drawing/2014/main" id="{05B74568-F89A-D2EC-06AF-5730B7BA6A12}"/>
              </a:ext>
            </a:extLst>
          </p:cNvPr>
          <p:cNvSpPr/>
          <p:nvPr/>
        </p:nvSpPr>
        <p:spPr>
          <a:xfrm>
            <a:off x="120053" y="258575"/>
            <a:ext cx="1616229" cy="1535495"/>
          </a:xfrm>
          <a:custGeom>
            <a:avLst/>
            <a:gdLst/>
            <a:ahLst/>
            <a:cxnLst/>
            <a:rect l="l" t="t" r="r" b="b"/>
            <a:pathLst>
              <a:path w="1742760" h="1742760" extrusionOk="0">
                <a:moveTo>
                  <a:pt x="0" y="0"/>
                </a:moveTo>
                <a:lnTo>
                  <a:pt x="1742760" y="0"/>
                </a:lnTo>
                <a:lnTo>
                  <a:pt x="1742760" y="1742760"/>
                </a:lnTo>
                <a:lnTo>
                  <a:pt x="0" y="1742760"/>
                </a:lnTo>
                <a:lnTo>
                  <a:pt x="0" y="0"/>
                </a:lnTo>
                <a:close/>
              </a:path>
            </a:pathLst>
          </a:custGeom>
          <a:blipFill rotWithShape="1">
            <a:blip r:embed="rId3">
              <a:alphaModFix/>
            </a:blip>
            <a:stretch>
              <a:fillRect/>
            </a:stretch>
          </a:blipFill>
          <a:ln>
            <a:noFill/>
          </a:ln>
        </p:spPr>
      </p:sp>
      <p:sp>
        <p:nvSpPr>
          <p:cNvPr id="8" name="Google Shape;71;p9">
            <a:extLst>
              <a:ext uri="{FF2B5EF4-FFF2-40B4-BE49-F238E27FC236}">
                <a16:creationId xmlns="" xmlns:a16="http://schemas.microsoft.com/office/drawing/2014/main" id="{98EF483D-669A-866C-5202-42796353A83E}"/>
              </a:ext>
            </a:extLst>
          </p:cNvPr>
          <p:cNvSpPr/>
          <p:nvPr/>
        </p:nvSpPr>
        <p:spPr>
          <a:xfrm>
            <a:off x="16055520" y="8588829"/>
            <a:ext cx="1616229" cy="1535495"/>
          </a:xfrm>
          <a:custGeom>
            <a:avLst/>
            <a:gdLst/>
            <a:ahLst/>
            <a:cxnLst/>
            <a:rect l="l" t="t" r="r" b="b"/>
            <a:pathLst>
              <a:path w="1742760" h="1742760" extrusionOk="0">
                <a:moveTo>
                  <a:pt x="0" y="0"/>
                </a:moveTo>
                <a:lnTo>
                  <a:pt x="1742760" y="0"/>
                </a:lnTo>
                <a:lnTo>
                  <a:pt x="1742760" y="1742760"/>
                </a:lnTo>
                <a:lnTo>
                  <a:pt x="0" y="1742760"/>
                </a:lnTo>
                <a:lnTo>
                  <a:pt x="0" y="0"/>
                </a:lnTo>
                <a:close/>
              </a:path>
            </a:pathLst>
          </a:custGeom>
          <a:blipFill rotWithShape="1">
            <a:blip r:embed="rId3">
              <a:alphaModFix/>
            </a:blip>
            <a:stretch>
              <a:fillRect/>
            </a:stretch>
          </a:blipFill>
          <a:ln>
            <a:noFill/>
          </a:ln>
        </p:spPr>
      </p:sp>
      <p:pic>
        <p:nvPicPr>
          <p:cNvPr id="10" name="Picture 9">
            <a:extLst>
              <a:ext uri="{FF2B5EF4-FFF2-40B4-BE49-F238E27FC236}">
                <a16:creationId xmlns="" xmlns:a16="http://schemas.microsoft.com/office/drawing/2014/main" id="{6FC103F9-9ECF-30D6-49A8-2BBFD47EE758}"/>
              </a:ext>
            </a:extLst>
          </p:cNvPr>
          <p:cNvPicPr>
            <a:picLocks noChangeAspect="1"/>
          </p:cNvPicPr>
          <p:nvPr/>
        </p:nvPicPr>
        <p:blipFill>
          <a:blip r:embed="rId4"/>
          <a:stretch>
            <a:fillRect/>
          </a:stretch>
        </p:blipFill>
        <p:spPr>
          <a:xfrm>
            <a:off x="13004800" y="1828353"/>
            <a:ext cx="5007429" cy="6444790"/>
          </a:xfrm>
          <a:prstGeom prst="rect">
            <a:avLst/>
          </a:prstGeom>
          <a:ln>
            <a:noFill/>
          </a:ln>
          <a:effectLst>
            <a:softEdge rad="112500"/>
          </a:effectLst>
        </p:spPr>
      </p:pic>
      <p:pic>
        <p:nvPicPr>
          <p:cNvPr id="1026" name="Picture 2" descr="Artificial Intelligence: Shaping a More Efficient and Effective Future in  Healthcare - Hospital Magazine - Leading Healthcare Magazine in the Middle  Ea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12228" y="4002908"/>
            <a:ext cx="3273077" cy="478414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grpSp>
        <p:nvGrpSpPr>
          <p:cNvPr id="22" name="Google Shape;72;p9"/>
          <p:cNvGrpSpPr/>
          <p:nvPr/>
        </p:nvGrpSpPr>
        <p:grpSpPr>
          <a:xfrm>
            <a:off x="4981283" y="342878"/>
            <a:ext cx="7115779" cy="771537"/>
            <a:chOff x="0" y="0"/>
            <a:chExt cx="2323806" cy="329300"/>
          </a:xfrm>
        </p:grpSpPr>
        <p:sp>
          <p:nvSpPr>
            <p:cNvPr id="23" name="Google Shape;73;p9"/>
            <p:cNvSpPr/>
            <p:nvPr/>
          </p:nvSpPr>
          <p:spPr>
            <a:xfrm>
              <a:off x="0" y="0"/>
              <a:ext cx="2323806" cy="329300"/>
            </a:xfrm>
            <a:custGeom>
              <a:avLst/>
              <a:gdLst/>
              <a:ahLst/>
              <a:cxnLst/>
              <a:rect l="l" t="t" r="r" b="b"/>
              <a:pathLst>
                <a:path w="2323806" h="329300" extrusionOk="0">
                  <a:moveTo>
                    <a:pt x="17549" y="0"/>
                  </a:moveTo>
                  <a:lnTo>
                    <a:pt x="2306257" y="0"/>
                  </a:lnTo>
                  <a:cubicBezTo>
                    <a:pt x="2315949" y="0"/>
                    <a:pt x="2323806" y="7857"/>
                    <a:pt x="2323806" y="17549"/>
                  </a:cubicBezTo>
                  <a:lnTo>
                    <a:pt x="2323806" y="311751"/>
                  </a:lnTo>
                  <a:cubicBezTo>
                    <a:pt x="2323806" y="321443"/>
                    <a:pt x="2315949" y="329300"/>
                    <a:pt x="2306257" y="329300"/>
                  </a:cubicBezTo>
                  <a:lnTo>
                    <a:pt x="17549" y="329300"/>
                  </a:lnTo>
                  <a:cubicBezTo>
                    <a:pt x="7857" y="329300"/>
                    <a:pt x="0" y="321443"/>
                    <a:pt x="0" y="311751"/>
                  </a:cubicBezTo>
                  <a:lnTo>
                    <a:pt x="0" y="17549"/>
                  </a:lnTo>
                  <a:cubicBezTo>
                    <a:pt x="0" y="7857"/>
                    <a:pt x="7857" y="0"/>
                    <a:pt x="17549"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4;p9"/>
            <p:cNvSpPr txBox="1"/>
            <p:nvPr/>
          </p:nvSpPr>
          <p:spPr>
            <a:xfrm>
              <a:off x="223398" y="64379"/>
              <a:ext cx="1836032" cy="226714"/>
            </a:xfrm>
            <a:prstGeom prst="rect">
              <a:avLst/>
            </a:prstGeom>
            <a:noFill/>
            <a:ln>
              <a:noFill/>
            </a:ln>
          </p:spPr>
          <p:txBody>
            <a:bodyPr spcFirstLastPara="1" wrap="square" lIns="50800" tIns="50800" rIns="50800" bIns="50800" anchor="ctr" anchorCtr="0">
              <a:noAutofit/>
            </a:bodyPr>
            <a:lstStyle/>
            <a:p>
              <a:pPr lvl="0">
                <a:lnSpc>
                  <a:spcPct val="84998"/>
                </a:lnSpc>
              </a:pPr>
              <a:r>
                <a:rPr lang="en-US" sz="3600" b="1" dirty="0">
                  <a:solidFill>
                    <a:schemeClr val="tx1"/>
                  </a:solidFill>
                </a:rPr>
                <a:t>HEALTH INFORMATICS</a:t>
              </a:r>
              <a:endParaRPr lang="en-US" sz="4400" dirty="0">
                <a:solidFill>
                  <a:schemeClr val="tx1"/>
                </a:solidFill>
                <a:latin typeface="Modern No. 20" panose="02070704070505020303" pitchFamily="18" charset="0"/>
                <a:ea typeface="News Cycle"/>
                <a:cs typeface="News Cycle"/>
                <a:sym typeface="News Cycle"/>
              </a:endParaRP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grpSp>
        <p:nvGrpSpPr>
          <p:cNvPr id="86" name="Google Shape;86;p10"/>
          <p:cNvGrpSpPr/>
          <p:nvPr/>
        </p:nvGrpSpPr>
        <p:grpSpPr>
          <a:xfrm>
            <a:off x="-1" y="1581325"/>
            <a:ext cx="5759915" cy="8705675"/>
            <a:chOff x="0" y="-47625"/>
            <a:chExt cx="1634336" cy="2786200"/>
          </a:xfrm>
        </p:grpSpPr>
        <p:sp>
          <p:nvSpPr>
            <p:cNvPr id="87" name="Google Shape;87;p10"/>
            <p:cNvSpPr/>
            <p:nvPr/>
          </p:nvSpPr>
          <p:spPr>
            <a:xfrm>
              <a:off x="0" y="0"/>
              <a:ext cx="1634336" cy="2738575"/>
            </a:xfrm>
            <a:custGeom>
              <a:avLst/>
              <a:gdLst/>
              <a:ahLst/>
              <a:cxnLst/>
              <a:rect l="l" t="t" r="r" b="b"/>
              <a:pathLst>
                <a:path w="1634336" h="2738575" extrusionOk="0">
                  <a:moveTo>
                    <a:pt x="0" y="0"/>
                  </a:moveTo>
                  <a:lnTo>
                    <a:pt x="1634336" y="0"/>
                  </a:lnTo>
                  <a:lnTo>
                    <a:pt x="1634336" y="2738575"/>
                  </a:lnTo>
                  <a:lnTo>
                    <a:pt x="0" y="2738575"/>
                  </a:lnTo>
                  <a:close/>
                </a:path>
              </a:pathLst>
            </a:custGeom>
            <a:solidFill>
              <a:srgbClr val="2DCD9D"/>
            </a:solidFill>
            <a:ln>
              <a:noFill/>
            </a:ln>
          </p:spPr>
        </p:sp>
        <p:sp>
          <p:nvSpPr>
            <p:cNvPr id="88" name="Google Shape;88;p10"/>
            <p:cNvSpPr txBox="1"/>
            <p:nvPr/>
          </p:nvSpPr>
          <p:spPr>
            <a:xfrm>
              <a:off x="0" y="-47625"/>
              <a:ext cx="1634336" cy="27862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9" name="Google Shape;99;p10"/>
          <p:cNvSpPr/>
          <p:nvPr/>
        </p:nvSpPr>
        <p:spPr>
          <a:xfrm>
            <a:off x="173649" y="0"/>
            <a:ext cx="1742760" cy="1742760"/>
          </a:xfrm>
          <a:custGeom>
            <a:avLst/>
            <a:gdLst/>
            <a:ahLst/>
            <a:cxnLst/>
            <a:rect l="l" t="t" r="r" b="b"/>
            <a:pathLst>
              <a:path w="1742760" h="1742760" extrusionOk="0">
                <a:moveTo>
                  <a:pt x="0" y="0"/>
                </a:moveTo>
                <a:lnTo>
                  <a:pt x="1742761" y="0"/>
                </a:lnTo>
                <a:lnTo>
                  <a:pt x="1742761" y="1742760"/>
                </a:lnTo>
                <a:lnTo>
                  <a:pt x="0" y="1742760"/>
                </a:lnTo>
                <a:lnTo>
                  <a:pt x="0" y="0"/>
                </a:lnTo>
                <a:close/>
              </a:path>
            </a:pathLst>
          </a:custGeom>
          <a:blipFill rotWithShape="1">
            <a:blip r:embed="rId3">
              <a:alphaModFix/>
            </a:blip>
            <a:stretch>
              <a:fillRect/>
            </a:stretch>
          </a:blipFill>
          <a:ln>
            <a:noFill/>
          </a:ln>
        </p:spPr>
      </p:sp>
      <p:sp>
        <p:nvSpPr>
          <p:cNvPr id="2" name="TextBox 1">
            <a:extLst>
              <a:ext uri="{FF2B5EF4-FFF2-40B4-BE49-F238E27FC236}">
                <a16:creationId xmlns="" xmlns:a16="http://schemas.microsoft.com/office/drawing/2014/main" id="{E4428751-0CC6-E6BD-8B8C-32388EB50B3A}"/>
              </a:ext>
            </a:extLst>
          </p:cNvPr>
          <p:cNvSpPr txBox="1"/>
          <p:nvPr/>
        </p:nvSpPr>
        <p:spPr>
          <a:xfrm>
            <a:off x="6593733" y="465191"/>
            <a:ext cx="10649238" cy="8679299"/>
          </a:xfrm>
          <a:prstGeom prst="rect">
            <a:avLst/>
          </a:prstGeom>
          <a:noFill/>
        </p:spPr>
        <p:txBody>
          <a:bodyPr wrap="square" rtlCol="0">
            <a:spAutoFit/>
          </a:bodyPr>
          <a:lstStyle/>
          <a:p>
            <a:pPr algn="ctr"/>
            <a:endParaRPr lang="en-US" sz="5400" dirty="0">
              <a:latin typeface="Modern No. 20" panose="02070704070505020303" pitchFamily="18" charset="0"/>
            </a:endParaRPr>
          </a:p>
          <a:p>
            <a:pPr marL="342900" indent="-342900">
              <a:buFont typeface="Arial" panose="020B0604020202020204" pitchFamily="34" charset="0"/>
              <a:buChar char="•"/>
            </a:pPr>
            <a:endParaRPr lang="en-US" sz="2800" b="1" dirty="0"/>
          </a:p>
          <a:p>
            <a:pPr marL="342900" indent="-342900">
              <a:buFont typeface="Arial" panose="020B0604020202020204" pitchFamily="34" charset="0"/>
              <a:buChar char="•"/>
            </a:pPr>
            <a:r>
              <a:rPr lang="en-US" sz="2800" b="1" dirty="0"/>
              <a:t>The Problem:</a:t>
            </a:r>
            <a:endParaRPr lang="en-US" sz="2800" dirty="0"/>
          </a:p>
          <a:p>
            <a:pPr marL="457200" indent="-457200">
              <a:buFont typeface="+mj-lt"/>
              <a:buAutoNum type="arabicPeriod"/>
            </a:pPr>
            <a:r>
              <a:rPr lang="en-US" sz="2800" dirty="0"/>
              <a:t>Patients in India carry physical files of reports to every doctor visit.</a:t>
            </a:r>
          </a:p>
          <a:p>
            <a:pPr marL="457200" indent="-457200">
              <a:buFont typeface="+mj-lt"/>
              <a:buAutoNum type="arabicPeriod"/>
            </a:pPr>
            <a:r>
              <a:rPr lang="en-US" sz="2800" dirty="0"/>
              <a:t>Records get lost, torn, or damaged.</a:t>
            </a:r>
          </a:p>
          <a:p>
            <a:pPr marL="457200" indent="-457200">
              <a:buFont typeface="+mj-lt"/>
              <a:buAutoNum type="arabicPeriod"/>
            </a:pPr>
            <a:r>
              <a:rPr lang="en-US" sz="2800" dirty="0"/>
              <a:t>Doctors waste 50% of consultation time asking for medical history.</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No single view of:</a:t>
            </a:r>
            <a:endParaRPr lang="en-US" sz="2800" dirty="0"/>
          </a:p>
          <a:p>
            <a:pPr marL="457200" indent="-457200">
              <a:buFont typeface="+mj-lt"/>
              <a:buAutoNum type="arabicPeriod"/>
            </a:pPr>
            <a:r>
              <a:rPr lang="en-US" sz="2800" dirty="0"/>
              <a:t>Current medications.</a:t>
            </a:r>
          </a:p>
          <a:p>
            <a:pPr marL="457200" indent="-457200">
              <a:buFont typeface="+mj-lt"/>
              <a:buAutoNum type="arabicPeriod"/>
            </a:pPr>
            <a:r>
              <a:rPr lang="en-US" sz="2800" dirty="0"/>
              <a:t>Known allergies.</a:t>
            </a:r>
          </a:p>
          <a:p>
            <a:pPr marL="457200" indent="-457200">
              <a:buFont typeface="+mj-lt"/>
              <a:buAutoNum type="arabicPeriod"/>
            </a:pPr>
            <a:r>
              <a:rPr lang="en-US" sz="2800" dirty="0"/>
              <a:t>Recurring symptoms.</a:t>
            </a:r>
          </a:p>
          <a:p>
            <a:pPr marL="457200" indent="-457200">
              <a:buFont typeface="+mj-lt"/>
              <a:buAutoNum type="arabicPeriod"/>
            </a:pPr>
            <a:r>
              <a:rPr lang="en-US" sz="2800" dirty="0"/>
              <a:t>Past test results.</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Real impact:</a:t>
            </a:r>
            <a:endParaRPr lang="en-US" sz="2800" dirty="0"/>
          </a:p>
          <a:p>
            <a:pPr marL="457200" indent="-457200">
              <a:buFont typeface="+mj-lt"/>
              <a:buAutoNum type="arabicPeriod"/>
            </a:pPr>
            <a:r>
              <a:rPr lang="en-US" sz="2800" dirty="0"/>
              <a:t>Missed allergies → wrong prescriptions.</a:t>
            </a:r>
          </a:p>
          <a:p>
            <a:pPr marL="457200" indent="-457200">
              <a:buFont typeface="+mj-lt"/>
              <a:buAutoNum type="arabicPeriod"/>
            </a:pPr>
            <a:r>
              <a:rPr lang="en-US" sz="2800" dirty="0"/>
              <a:t>No history access in emergency.</a:t>
            </a:r>
          </a:p>
          <a:p>
            <a:pPr marL="457200" indent="-457200">
              <a:buFont typeface="+mj-lt"/>
              <a:buAutoNum type="arabicPeriod"/>
            </a:pPr>
            <a:r>
              <a:rPr lang="en-US" sz="2800" dirty="0"/>
              <a:t>Repeat tests = extra cost.</a:t>
            </a:r>
            <a:endParaRPr lang="en-IN" sz="2800" dirty="0"/>
          </a:p>
        </p:txBody>
      </p:sp>
      <p:pic>
        <p:nvPicPr>
          <p:cNvPr id="6" name="Picture 5">
            <a:extLst>
              <a:ext uri="{FF2B5EF4-FFF2-40B4-BE49-F238E27FC236}">
                <a16:creationId xmlns="" xmlns:a16="http://schemas.microsoft.com/office/drawing/2014/main" id="{EAC5BC0A-A668-DF13-0BF1-8E12F068677A}"/>
              </a:ext>
            </a:extLst>
          </p:cNvPr>
          <p:cNvPicPr>
            <a:picLocks noChangeAspect="1"/>
          </p:cNvPicPr>
          <p:nvPr/>
        </p:nvPicPr>
        <p:blipFill>
          <a:blip r:embed="rId4"/>
          <a:stretch>
            <a:fillRect/>
          </a:stretch>
        </p:blipFill>
        <p:spPr>
          <a:xfrm>
            <a:off x="614590" y="2096966"/>
            <a:ext cx="4530732" cy="7823200"/>
          </a:xfrm>
          <a:prstGeom prst="rect">
            <a:avLst/>
          </a:prstGeom>
          <a:ln>
            <a:noFill/>
          </a:ln>
          <a:effectLst>
            <a:softEdge rad="112500"/>
          </a:effectLst>
        </p:spPr>
      </p:pic>
      <p:sp>
        <p:nvSpPr>
          <p:cNvPr id="12" name="Google Shape;99;p10">
            <a:extLst>
              <a:ext uri="{FF2B5EF4-FFF2-40B4-BE49-F238E27FC236}">
                <a16:creationId xmlns="" xmlns:a16="http://schemas.microsoft.com/office/drawing/2014/main" id="{3F90E51B-E1A5-199A-4D34-88AF89CC12A6}"/>
              </a:ext>
            </a:extLst>
          </p:cNvPr>
          <p:cNvSpPr/>
          <p:nvPr/>
        </p:nvSpPr>
        <p:spPr>
          <a:xfrm>
            <a:off x="16545240" y="0"/>
            <a:ext cx="1742760" cy="1742760"/>
          </a:xfrm>
          <a:custGeom>
            <a:avLst/>
            <a:gdLst/>
            <a:ahLst/>
            <a:cxnLst/>
            <a:rect l="l" t="t" r="r" b="b"/>
            <a:pathLst>
              <a:path w="1742760" h="1742760" extrusionOk="0">
                <a:moveTo>
                  <a:pt x="0" y="0"/>
                </a:moveTo>
                <a:lnTo>
                  <a:pt x="1742761" y="0"/>
                </a:lnTo>
                <a:lnTo>
                  <a:pt x="1742761" y="1742760"/>
                </a:lnTo>
                <a:lnTo>
                  <a:pt x="0" y="1742760"/>
                </a:lnTo>
                <a:lnTo>
                  <a:pt x="0" y="0"/>
                </a:lnTo>
                <a:close/>
              </a:path>
            </a:pathLst>
          </a:custGeom>
          <a:blipFill rotWithShape="1">
            <a:blip r:embed="rId3">
              <a:alphaModFix/>
            </a:blip>
            <a:stretch>
              <a:fillRect/>
            </a:stretch>
          </a:blipFill>
          <a:ln>
            <a:noFill/>
          </a:ln>
        </p:spPr>
      </p:sp>
      <p:sp>
        <p:nvSpPr>
          <p:cNvPr id="13" name="Google Shape;99;p10">
            <a:extLst>
              <a:ext uri="{FF2B5EF4-FFF2-40B4-BE49-F238E27FC236}">
                <a16:creationId xmlns="" xmlns:a16="http://schemas.microsoft.com/office/drawing/2014/main" id="{8DC3DD1E-DE1A-E756-D6F2-CFBD46CE3127}"/>
              </a:ext>
            </a:extLst>
          </p:cNvPr>
          <p:cNvSpPr/>
          <p:nvPr/>
        </p:nvSpPr>
        <p:spPr>
          <a:xfrm>
            <a:off x="16334030" y="8443163"/>
            <a:ext cx="1742760" cy="1742760"/>
          </a:xfrm>
          <a:custGeom>
            <a:avLst/>
            <a:gdLst/>
            <a:ahLst/>
            <a:cxnLst/>
            <a:rect l="l" t="t" r="r" b="b"/>
            <a:pathLst>
              <a:path w="1742760" h="1742760" extrusionOk="0">
                <a:moveTo>
                  <a:pt x="0" y="0"/>
                </a:moveTo>
                <a:lnTo>
                  <a:pt x="1742761" y="0"/>
                </a:lnTo>
                <a:lnTo>
                  <a:pt x="1742761" y="1742760"/>
                </a:lnTo>
                <a:lnTo>
                  <a:pt x="0" y="1742760"/>
                </a:lnTo>
                <a:lnTo>
                  <a:pt x="0" y="0"/>
                </a:lnTo>
                <a:close/>
              </a:path>
            </a:pathLst>
          </a:custGeom>
          <a:blipFill rotWithShape="1">
            <a:blip r:embed="rId3">
              <a:alphaModFix/>
            </a:blip>
            <a:stretch>
              <a:fillRect/>
            </a:stretch>
          </a:blipFill>
          <a:ln>
            <a:noFill/>
          </a:ln>
        </p:spPr>
      </p:sp>
      <p:grpSp>
        <p:nvGrpSpPr>
          <p:cNvPr id="14" name="Google Shape;110;p11">
            <a:extLst>
              <a:ext uri="{FF2B5EF4-FFF2-40B4-BE49-F238E27FC236}">
                <a16:creationId xmlns="" xmlns:a16="http://schemas.microsoft.com/office/drawing/2014/main" id="{54E784F1-A8DE-49C9-DB85-08EF5F5646CF}"/>
              </a:ext>
            </a:extLst>
          </p:cNvPr>
          <p:cNvGrpSpPr/>
          <p:nvPr/>
        </p:nvGrpSpPr>
        <p:grpSpPr>
          <a:xfrm>
            <a:off x="8972131" y="327661"/>
            <a:ext cx="5194712" cy="1087438"/>
            <a:chOff x="-7596" y="-31920"/>
            <a:chExt cx="1027248" cy="286403"/>
          </a:xfrm>
        </p:grpSpPr>
        <p:sp>
          <p:nvSpPr>
            <p:cNvPr id="15" name="Google Shape;111;p11">
              <a:extLst>
                <a:ext uri="{FF2B5EF4-FFF2-40B4-BE49-F238E27FC236}">
                  <a16:creationId xmlns="" xmlns:a16="http://schemas.microsoft.com/office/drawing/2014/main" id="{1D86EDEE-9C02-EE7D-D273-9E6EEFC13FE9}"/>
                </a:ext>
              </a:extLst>
            </p:cNvPr>
            <p:cNvSpPr/>
            <p:nvPr/>
          </p:nvSpPr>
          <p:spPr>
            <a:xfrm>
              <a:off x="0" y="0"/>
              <a:ext cx="1019652" cy="248303"/>
            </a:xfrm>
            <a:custGeom>
              <a:avLst/>
              <a:gdLst/>
              <a:ahLst/>
              <a:cxnLst/>
              <a:rect l="l" t="t" r="r" b="b"/>
              <a:pathLst>
                <a:path w="1019652" h="248303" extrusionOk="0">
                  <a:moveTo>
                    <a:pt x="39994" y="0"/>
                  </a:moveTo>
                  <a:lnTo>
                    <a:pt x="979658" y="0"/>
                  </a:lnTo>
                  <a:cubicBezTo>
                    <a:pt x="990265" y="0"/>
                    <a:pt x="1000438" y="4214"/>
                    <a:pt x="1007938" y="11714"/>
                  </a:cubicBezTo>
                  <a:cubicBezTo>
                    <a:pt x="1015439" y="19215"/>
                    <a:pt x="1019652" y="29387"/>
                    <a:pt x="1019652" y="39994"/>
                  </a:cubicBezTo>
                  <a:lnTo>
                    <a:pt x="1019652" y="208309"/>
                  </a:lnTo>
                  <a:cubicBezTo>
                    <a:pt x="1019652" y="230397"/>
                    <a:pt x="1001746" y="248303"/>
                    <a:pt x="979658" y="248303"/>
                  </a:cubicBezTo>
                  <a:lnTo>
                    <a:pt x="39994" y="248303"/>
                  </a:lnTo>
                  <a:cubicBezTo>
                    <a:pt x="29387" y="248303"/>
                    <a:pt x="19215" y="244090"/>
                    <a:pt x="11714" y="236589"/>
                  </a:cubicBezTo>
                  <a:cubicBezTo>
                    <a:pt x="4214" y="229089"/>
                    <a:pt x="0" y="218916"/>
                    <a:pt x="0" y="208309"/>
                  </a:cubicBezTo>
                  <a:lnTo>
                    <a:pt x="0" y="39994"/>
                  </a:lnTo>
                  <a:cubicBezTo>
                    <a:pt x="0" y="17906"/>
                    <a:pt x="17906" y="0"/>
                    <a:pt x="39994"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2;p11">
              <a:extLst>
                <a:ext uri="{FF2B5EF4-FFF2-40B4-BE49-F238E27FC236}">
                  <a16:creationId xmlns="" xmlns:a16="http://schemas.microsoft.com/office/drawing/2014/main" id="{A8DE757F-54D9-4F26-D6E0-E025096E9E77}"/>
                </a:ext>
              </a:extLst>
            </p:cNvPr>
            <p:cNvSpPr txBox="1"/>
            <p:nvPr/>
          </p:nvSpPr>
          <p:spPr>
            <a:xfrm>
              <a:off x="-7596" y="-31920"/>
              <a:ext cx="1019652" cy="286403"/>
            </a:xfrm>
            <a:prstGeom prst="rect">
              <a:avLst/>
            </a:prstGeom>
            <a:noFill/>
            <a:ln>
              <a:noFill/>
            </a:ln>
          </p:spPr>
          <p:txBody>
            <a:bodyPr spcFirstLastPara="1" wrap="square" lIns="50800" tIns="50800" rIns="50800" bIns="50800" anchor="ctr" anchorCtr="0">
              <a:noAutofit/>
            </a:bodyPr>
            <a:lstStyle/>
            <a:p>
              <a:pPr algn="ctr">
                <a:lnSpc>
                  <a:spcPct val="155555"/>
                </a:lnSpc>
              </a:pPr>
              <a:r>
                <a:rPr lang="en-US" sz="3600" b="1" dirty="0">
                  <a:latin typeface="Modern No. 20" panose="02070704070505020303" pitchFamily="18" charset="0"/>
                </a:rPr>
                <a:t>Problem Understanding</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grpSp>
        <p:nvGrpSpPr>
          <p:cNvPr id="105" name="Google Shape;105;p11"/>
          <p:cNvGrpSpPr/>
          <p:nvPr/>
        </p:nvGrpSpPr>
        <p:grpSpPr>
          <a:xfrm>
            <a:off x="12019174" y="-159658"/>
            <a:ext cx="6268826" cy="10446657"/>
            <a:chOff x="0" y="-47625"/>
            <a:chExt cx="1651049" cy="2756958"/>
          </a:xfrm>
        </p:grpSpPr>
        <p:sp>
          <p:nvSpPr>
            <p:cNvPr id="106" name="Google Shape;106;p11"/>
            <p:cNvSpPr/>
            <p:nvPr/>
          </p:nvSpPr>
          <p:spPr>
            <a:xfrm>
              <a:off x="0" y="0"/>
              <a:ext cx="1651049" cy="2709333"/>
            </a:xfrm>
            <a:custGeom>
              <a:avLst/>
              <a:gdLst/>
              <a:ahLst/>
              <a:cxnLst/>
              <a:rect l="l" t="t" r="r" b="b"/>
              <a:pathLst>
                <a:path w="1651049" h="2709333" extrusionOk="0">
                  <a:moveTo>
                    <a:pt x="0" y="0"/>
                  </a:moveTo>
                  <a:lnTo>
                    <a:pt x="1651049" y="0"/>
                  </a:lnTo>
                  <a:lnTo>
                    <a:pt x="1651049" y="2709333"/>
                  </a:lnTo>
                  <a:lnTo>
                    <a:pt x="0" y="2709333"/>
                  </a:lnTo>
                  <a:close/>
                </a:path>
              </a:pathLst>
            </a:custGeom>
            <a:solidFill>
              <a:srgbClr val="2DCD9D"/>
            </a:solidFill>
            <a:ln>
              <a:noFill/>
            </a:ln>
          </p:spPr>
        </p:sp>
        <p:sp>
          <p:nvSpPr>
            <p:cNvPr id="107" name="Google Shape;107;p11"/>
            <p:cNvSpPr txBox="1"/>
            <p:nvPr/>
          </p:nvSpPr>
          <p:spPr>
            <a:xfrm>
              <a:off x="0" y="-47625"/>
              <a:ext cx="1651049" cy="2756958"/>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1"/>
          <p:cNvSpPr/>
          <p:nvPr/>
        </p:nvSpPr>
        <p:spPr>
          <a:xfrm>
            <a:off x="231429" y="441725"/>
            <a:ext cx="1437714" cy="1558000"/>
          </a:xfrm>
          <a:custGeom>
            <a:avLst/>
            <a:gdLst/>
            <a:ahLst/>
            <a:cxnLst/>
            <a:rect l="l" t="t" r="r" b="b"/>
            <a:pathLst>
              <a:path w="1784584" h="1784584" extrusionOk="0">
                <a:moveTo>
                  <a:pt x="0" y="0"/>
                </a:moveTo>
                <a:lnTo>
                  <a:pt x="1784584" y="0"/>
                </a:lnTo>
                <a:lnTo>
                  <a:pt x="1784584" y="1784583"/>
                </a:lnTo>
                <a:lnTo>
                  <a:pt x="0" y="1784583"/>
                </a:lnTo>
                <a:lnTo>
                  <a:pt x="0" y="0"/>
                </a:lnTo>
                <a:close/>
              </a:path>
            </a:pathLst>
          </a:custGeom>
          <a:blipFill rotWithShape="1">
            <a:blip r:embed="rId3">
              <a:alphaModFix/>
            </a:blip>
            <a:stretch>
              <a:fillRect/>
            </a:stretch>
          </a:blipFill>
          <a:ln>
            <a:noFill/>
          </a:ln>
        </p:spPr>
      </p:sp>
      <p:grpSp>
        <p:nvGrpSpPr>
          <p:cNvPr id="110" name="Google Shape;110;p11"/>
          <p:cNvGrpSpPr/>
          <p:nvPr/>
        </p:nvGrpSpPr>
        <p:grpSpPr>
          <a:xfrm>
            <a:off x="6691087" y="441725"/>
            <a:ext cx="5156300" cy="1087438"/>
            <a:chOff x="0" y="-38100"/>
            <a:chExt cx="1019652" cy="286403"/>
          </a:xfrm>
        </p:grpSpPr>
        <p:sp>
          <p:nvSpPr>
            <p:cNvPr id="111" name="Google Shape;111;p11"/>
            <p:cNvSpPr/>
            <p:nvPr/>
          </p:nvSpPr>
          <p:spPr>
            <a:xfrm>
              <a:off x="0" y="0"/>
              <a:ext cx="1019652" cy="248303"/>
            </a:xfrm>
            <a:custGeom>
              <a:avLst/>
              <a:gdLst/>
              <a:ahLst/>
              <a:cxnLst/>
              <a:rect l="l" t="t" r="r" b="b"/>
              <a:pathLst>
                <a:path w="1019652" h="248303" extrusionOk="0">
                  <a:moveTo>
                    <a:pt x="39994" y="0"/>
                  </a:moveTo>
                  <a:lnTo>
                    <a:pt x="979658" y="0"/>
                  </a:lnTo>
                  <a:cubicBezTo>
                    <a:pt x="990265" y="0"/>
                    <a:pt x="1000438" y="4214"/>
                    <a:pt x="1007938" y="11714"/>
                  </a:cubicBezTo>
                  <a:cubicBezTo>
                    <a:pt x="1015439" y="19215"/>
                    <a:pt x="1019652" y="29387"/>
                    <a:pt x="1019652" y="39994"/>
                  </a:cubicBezTo>
                  <a:lnTo>
                    <a:pt x="1019652" y="208309"/>
                  </a:lnTo>
                  <a:cubicBezTo>
                    <a:pt x="1019652" y="230397"/>
                    <a:pt x="1001746" y="248303"/>
                    <a:pt x="979658" y="248303"/>
                  </a:cubicBezTo>
                  <a:lnTo>
                    <a:pt x="39994" y="248303"/>
                  </a:lnTo>
                  <a:cubicBezTo>
                    <a:pt x="29387" y="248303"/>
                    <a:pt x="19215" y="244090"/>
                    <a:pt x="11714" y="236589"/>
                  </a:cubicBezTo>
                  <a:cubicBezTo>
                    <a:pt x="4214" y="229089"/>
                    <a:pt x="0" y="218916"/>
                    <a:pt x="0" y="208309"/>
                  </a:cubicBezTo>
                  <a:lnTo>
                    <a:pt x="0" y="39994"/>
                  </a:lnTo>
                  <a:cubicBezTo>
                    <a:pt x="0" y="17906"/>
                    <a:pt x="17906" y="0"/>
                    <a:pt x="39994"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txBox="1"/>
            <p:nvPr/>
          </p:nvSpPr>
          <p:spPr>
            <a:xfrm>
              <a:off x="0" y="-38100"/>
              <a:ext cx="1019652" cy="286403"/>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3" name="Google Shape;113;p11"/>
          <p:cNvSpPr txBox="1"/>
          <p:nvPr/>
        </p:nvSpPr>
        <p:spPr>
          <a:xfrm>
            <a:off x="2338962" y="642766"/>
            <a:ext cx="9852000" cy="886397"/>
          </a:xfrm>
          <a:prstGeom prst="rect">
            <a:avLst/>
          </a:prstGeom>
          <a:noFill/>
          <a:ln>
            <a:noFill/>
          </a:ln>
        </p:spPr>
        <p:txBody>
          <a:bodyPr spcFirstLastPara="1" wrap="square" lIns="0" tIns="0" rIns="0" bIns="0" anchor="t" anchorCtr="0">
            <a:spAutoFit/>
          </a:bodyPr>
          <a:lstStyle/>
          <a:p>
            <a:pPr>
              <a:lnSpc>
                <a:spcPct val="96000"/>
              </a:lnSpc>
            </a:pPr>
            <a:r>
              <a:rPr lang="en-US" sz="6000" dirty="0"/>
              <a:t>Why Current Solutions Fail?</a:t>
            </a:r>
          </a:p>
        </p:txBody>
      </p:sp>
      <p:graphicFrame>
        <p:nvGraphicFramePr>
          <p:cNvPr id="2" name="Table 1">
            <a:extLst>
              <a:ext uri="{FF2B5EF4-FFF2-40B4-BE49-F238E27FC236}">
                <a16:creationId xmlns="" xmlns:a16="http://schemas.microsoft.com/office/drawing/2014/main" id="{C63AAB9D-48E6-167E-7B8E-897BCC792358}"/>
              </a:ext>
            </a:extLst>
          </p:cNvPr>
          <p:cNvGraphicFramePr>
            <a:graphicFrameLocks noGrp="1"/>
          </p:cNvGraphicFramePr>
          <p:nvPr>
            <p:extLst>
              <p:ext uri="{D42A27DB-BD31-4B8C-83A1-F6EECF244321}">
                <p14:modId xmlns:p14="http://schemas.microsoft.com/office/powerpoint/2010/main" val="2994396163"/>
              </p:ext>
            </p:extLst>
          </p:nvPr>
        </p:nvGraphicFramePr>
        <p:xfrm>
          <a:off x="595086" y="2712467"/>
          <a:ext cx="10624458" cy="5541856"/>
        </p:xfrm>
        <a:graphic>
          <a:graphicData uri="http://schemas.openxmlformats.org/drawingml/2006/table">
            <a:tbl>
              <a:tblPr firstRow="1" bandRow="1">
                <a:tableStyleId>{E19E412E-E8D6-4022-A6EA-C9FC399ED734}</a:tableStyleId>
              </a:tblPr>
              <a:tblGrid>
                <a:gridCol w="5312229">
                  <a:extLst>
                    <a:ext uri="{9D8B030D-6E8A-4147-A177-3AD203B41FA5}">
                      <a16:colId xmlns="" xmlns:a16="http://schemas.microsoft.com/office/drawing/2014/main" val="58588324"/>
                    </a:ext>
                  </a:extLst>
                </a:gridCol>
                <a:gridCol w="5312229">
                  <a:extLst>
                    <a:ext uri="{9D8B030D-6E8A-4147-A177-3AD203B41FA5}">
                      <a16:colId xmlns="" xmlns:a16="http://schemas.microsoft.com/office/drawing/2014/main" val="2024284613"/>
                    </a:ext>
                  </a:extLst>
                </a:gridCol>
              </a:tblGrid>
              <a:tr h="908896">
                <a:tc>
                  <a:txBody>
                    <a:bodyPr/>
                    <a:lstStyle/>
                    <a:p>
                      <a:pPr algn="ctr"/>
                      <a:r>
                        <a:rPr lang="en-US" sz="4400" dirty="0"/>
                        <a:t>Existing Solution </a:t>
                      </a:r>
                      <a:endParaRPr lang="en-IN" sz="4400" dirty="0"/>
                    </a:p>
                  </a:txBody>
                  <a:tcPr/>
                </a:tc>
                <a:tc>
                  <a:txBody>
                    <a:bodyPr/>
                    <a:lstStyle/>
                    <a:p>
                      <a:pPr algn="ctr"/>
                      <a:r>
                        <a:rPr lang="en-US" sz="4800" dirty="0"/>
                        <a:t>Limitation</a:t>
                      </a:r>
                      <a:endParaRPr lang="en-IN" sz="1800" dirty="0"/>
                    </a:p>
                  </a:txBody>
                  <a:tcPr/>
                </a:tc>
                <a:extLst>
                  <a:ext uri="{0D108BD9-81ED-4DB2-BD59-A6C34878D82A}">
                    <a16:rowId xmlns="" xmlns:a16="http://schemas.microsoft.com/office/drawing/2014/main" val="1521385228"/>
                  </a:ext>
                </a:extLst>
              </a:tr>
              <a:tr h="908896">
                <a:tc>
                  <a:txBody>
                    <a:bodyPr/>
                    <a:lstStyle/>
                    <a:p>
                      <a:r>
                        <a:rPr lang="en-US" sz="2800" dirty="0"/>
                        <a:t>Physical paper files.</a:t>
                      </a:r>
                      <a:endParaRPr lang="en-IN" sz="2800" dirty="0"/>
                    </a:p>
                  </a:txBody>
                  <a:tcPr/>
                </a:tc>
                <a:tc>
                  <a:txBody>
                    <a:bodyPr/>
                    <a:lstStyle/>
                    <a:p>
                      <a:r>
                        <a:rPr lang="en-US" sz="2800" dirty="0"/>
                        <a:t>Lost, damaged, torn, or misplaced easily.</a:t>
                      </a:r>
                      <a:endParaRPr lang="en-IN" sz="2800" dirty="0"/>
                    </a:p>
                  </a:txBody>
                  <a:tcPr/>
                </a:tc>
                <a:extLst>
                  <a:ext uri="{0D108BD9-81ED-4DB2-BD59-A6C34878D82A}">
                    <a16:rowId xmlns="" xmlns:a16="http://schemas.microsoft.com/office/drawing/2014/main" val="3828656345"/>
                  </a:ext>
                </a:extLst>
              </a:tr>
              <a:tr h="908896">
                <a:tc>
                  <a:txBody>
                    <a:bodyPr/>
                    <a:lstStyle/>
                    <a:p>
                      <a:r>
                        <a:rPr lang="en-US" sz="2800" dirty="0"/>
                        <a:t>Google Drive / Phone photos.</a:t>
                      </a:r>
                      <a:endParaRPr lang="en-IN" sz="2800" dirty="0"/>
                    </a:p>
                  </a:txBody>
                  <a:tcPr/>
                </a:tc>
                <a:tc>
                  <a:txBody>
                    <a:bodyPr/>
                    <a:lstStyle/>
                    <a:p>
                      <a:r>
                        <a:rPr lang="en-US" sz="2800" dirty="0"/>
                        <a:t>No medical structure, difficult to find information quickly.</a:t>
                      </a:r>
                      <a:endParaRPr lang="en-IN" sz="2800" dirty="0"/>
                    </a:p>
                  </a:txBody>
                  <a:tcPr/>
                </a:tc>
                <a:extLst>
                  <a:ext uri="{0D108BD9-81ED-4DB2-BD59-A6C34878D82A}">
                    <a16:rowId xmlns="" xmlns:a16="http://schemas.microsoft.com/office/drawing/2014/main" val="704481444"/>
                  </a:ext>
                </a:extLst>
              </a:tr>
              <a:tr h="908896">
                <a:tc>
                  <a:txBody>
                    <a:bodyPr/>
                    <a:lstStyle/>
                    <a:p>
                      <a:r>
                        <a:rPr lang="en-US" sz="2800" dirty="0"/>
                        <a:t>Hospital-specific apps.</a:t>
                      </a:r>
                      <a:endParaRPr lang="en-IN" sz="2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t>Not portable across different doctors or hospitals.</a:t>
                      </a:r>
                    </a:p>
                    <a:p>
                      <a:endParaRPr lang="en-IN" sz="2800" dirty="0"/>
                    </a:p>
                  </a:txBody>
                  <a:tcPr/>
                </a:tc>
                <a:extLst>
                  <a:ext uri="{0D108BD9-81ED-4DB2-BD59-A6C34878D82A}">
                    <a16:rowId xmlns="" xmlns:a16="http://schemas.microsoft.com/office/drawing/2014/main" val="943540242"/>
                  </a:ext>
                </a:extLst>
              </a:tr>
              <a:tr h="908896">
                <a:tc>
                  <a:txBody>
                    <a:bodyPr/>
                    <a:lstStyle/>
                    <a:p>
                      <a:r>
                        <a:rPr lang="en-US" sz="2800" dirty="0"/>
                        <a:t>Memory-based summary told to doctor.</a:t>
                      </a:r>
                      <a:endParaRPr lang="en-IN" sz="2800" dirty="0"/>
                    </a:p>
                  </a:txBody>
                  <a:tcPr/>
                </a:tc>
                <a:tc>
                  <a:txBody>
                    <a:bodyPr/>
                    <a:lstStyle/>
                    <a:p>
                      <a:r>
                        <a:rPr lang="en-US" sz="2800" dirty="0"/>
                        <a:t>Incomplete, forgets important details like allergies or old prescriptions.</a:t>
                      </a:r>
                      <a:endParaRPr lang="en-IN" sz="2800" dirty="0"/>
                    </a:p>
                  </a:txBody>
                  <a:tcPr/>
                </a:tc>
                <a:extLst>
                  <a:ext uri="{0D108BD9-81ED-4DB2-BD59-A6C34878D82A}">
                    <a16:rowId xmlns="" xmlns:a16="http://schemas.microsoft.com/office/drawing/2014/main" val="3046618539"/>
                  </a:ext>
                </a:extLst>
              </a:tr>
            </a:tbl>
          </a:graphicData>
        </a:graphic>
      </p:graphicFrame>
      <p:sp>
        <p:nvSpPr>
          <p:cNvPr id="3" name="Google Shape;109;p11">
            <a:extLst>
              <a:ext uri="{FF2B5EF4-FFF2-40B4-BE49-F238E27FC236}">
                <a16:creationId xmlns="" xmlns:a16="http://schemas.microsoft.com/office/drawing/2014/main" id="{F21B894F-DC49-7906-B879-9BCB81A06717}"/>
              </a:ext>
            </a:extLst>
          </p:cNvPr>
          <p:cNvSpPr/>
          <p:nvPr/>
        </p:nvSpPr>
        <p:spPr>
          <a:xfrm>
            <a:off x="231429" y="8682850"/>
            <a:ext cx="1437714" cy="1558000"/>
          </a:xfrm>
          <a:custGeom>
            <a:avLst/>
            <a:gdLst/>
            <a:ahLst/>
            <a:cxnLst/>
            <a:rect l="l" t="t" r="r" b="b"/>
            <a:pathLst>
              <a:path w="1784584" h="1784584" extrusionOk="0">
                <a:moveTo>
                  <a:pt x="0" y="0"/>
                </a:moveTo>
                <a:lnTo>
                  <a:pt x="1784584" y="0"/>
                </a:lnTo>
                <a:lnTo>
                  <a:pt x="1784584" y="1784583"/>
                </a:lnTo>
                <a:lnTo>
                  <a:pt x="0" y="1784583"/>
                </a:lnTo>
                <a:lnTo>
                  <a:pt x="0" y="0"/>
                </a:lnTo>
                <a:close/>
              </a:path>
            </a:pathLst>
          </a:custGeom>
          <a:blipFill rotWithShape="1">
            <a:blip r:embed="rId3">
              <a:alphaModFix/>
            </a:blip>
            <a:stretch>
              <a:fillRect/>
            </a:stretch>
          </a:blipFill>
          <a:ln>
            <a:noFill/>
          </a:ln>
        </p:spPr>
      </p:sp>
      <p:pic>
        <p:nvPicPr>
          <p:cNvPr id="7" name="Picture 6">
            <a:extLst>
              <a:ext uri="{FF2B5EF4-FFF2-40B4-BE49-F238E27FC236}">
                <a16:creationId xmlns="" xmlns:a16="http://schemas.microsoft.com/office/drawing/2014/main" id="{6FB8E8F9-175B-6ABA-7CB8-56FC4579888B}"/>
              </a:ext>
            </a:extLst>
          </p:cNvPr>
          <p:cNvPicPr>
            <a:picLocks noChangeAspect="1"/>
          </p:cNvPicPr>
          <p:nvPr/>
        </p:nvPicPr>
        <p:blipFill>
          <a:blip r:embed="rId4"/>
          <a:stretch>
            <a:fillRect/>
          </a:stretch>
        </p:blipFill>
        <p:spPr>
          <a:xfrm>
            <a:off x="12647017" y="1543395"/>
            <a:ext cx="5218558" cy="7023112"/>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grpSp>
        <p:nvGrpSpPr>
          <p:cNvPr id="126" name="Google Shape;126;p12"/>
          <p:cNvGrpSpPr/>
          <p:nvPr/>
        </p:nvGrpSpPr>
        <p:grpSpPr>
          <a:xfrm>
            <a:off x="10508344" y="583827"/>
            <a:ext cx="6125028" cy="1562407"/>
            <a:chOff x="0" y="-38100"/>
            <a:chExt cx="1424634" cy="322917"/>
          </a:xfrm>
        </p:grpSpPr>
        <p:sp>
          <p:nvSpPr>
            <p:cNvPr id="127" name="Google Shape;127;p12"/>
            <p:cNvSpPr/>
            <p:nvPr/>
          </p:nvSpPr>
          <p:spPr>
            <a:xfrm>
              <a:off x="0" y="0"/>
              <a:ext cx="1424634" cy="284817"/>
            </a:xfrm>
            <a:custGeom>
              <a:avLst/>
              <a:gdLst/>
              <a:ahLst/>
              <a:cxnLst/>
              <a:rect l="l" t="t" r="r" b="b"/>
              <a:pathLst>
                <a:path w="1424634" h="284817" extrusionOk="0">
                  <a:moveTo>
                    <a:pt x="28625" y="0"/>
                  </a:moveTo>
                  <a:lnTo>
                    <a:pt x="1396009" y="0"/>
                  </a:lnTo>
                  <a:cubicBezTo>
                    <a:pt x="1403601" y="0"/>
                    <a:pt x="1410882" y="3016"/>
                    <a:pt x="1416250" y="8384"/>
                  </a:cubicBezTo>
                  <a:cubicBezTo>
                    <a:pt x="1421618" y="13752"/>
                    <a:pt x="1424634" y="21033"/>
                    <a:pt x="1424634" y="28625"/>
                  </a:cubicBezTo>
                  <a:lnTo>
                    <a:pt x="1424634" y="256192"/>
                  </a:lnTo>
                  <a:cubicBezTo>
                    <a:pt x="1424634" y="272001"/>
                    <a:pt x="1411818" y="284817"/>
                    <a:pt x="1396009" y="284817"/>
                  </a:cubicBezTo>
                  <a:lnTo>
                    <a:pt x="28625" y="284817"/>
                  </a:lnTo>
                  <a:cubicBezTo>
                    <a:pt x="21033" y="284817"/>
                    <a:pt x="13752" y="281801"/>
                    <a:pt x="8384" y="276433"/>
                  </a:cubicBezTo>
                  <a:cubicBezTo>
                    <a:pt x="3016" y="271065"/>
                    <a:pt x="0" y="263784"/>
                    <a:pt x="0" y="256192"/>
                  </a:cubicBezTo>
                  <a:lnTo>
                    <a:pt x="0" y="28625"/>
                  </a:lnTo>
                  <a:cubicBezTo>
                    <a:pt x="0" y="12816"/>
                    <a:pt x="12816" y="0"/>
                    <a:pt x="28625"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2"/>
            <p:cNvSpPr txBox="1"/>
            <p:nvPr/>
          </p:nvSpPr>
          <p:spPr>
            <a:xfrm>
              <a:off x="0" y="-38100"/>
              <a:ext cx="1424634" cy="322917"/>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9" name="Google Shape;129;p12"/>
          <p:cNvSpPr/>
          <p:nvPr/>
        </p:nvSpPr>
        <p:spPr>
          <a:xfrm>
            <a:off x="-1348015" y="7537231"/>
            <a:ext cx="4114800" cy="4114800"/>
          </a:xfrm>
          <a:custGeom>
            <a:avLst/>
            <a:gdLst/>
            <a:ahLst/>
            <a:cxnLst/>
            <a:rect l="l" t="t" r="r" b="b"/>
            <a:pathLst>
              <a:path w="4114800" h="4114800" extrusionOk="0">
                <a:moveTo>
                  <a:pt x="0" y="0"/>
                </a:moveTo>
                <a:lnTo>
                  <a:pt x="4114800" y="0"/>
                </a:lnTo>
                <a:lnTo>
                  <a:pt x="4114800" y="4114800"/>
                </a:lnTo>
                <a:lnTo>
                  <a:pt x="0" y="4114800"/>
                </a:lnTo>
                <a:lnTo>
                  <a:pt x="0" y="0"/>
                </a:lnTo>
                <a:close/>
              </a:path>
            </a:pathLst>
          </a:custGeom>
          <a:blipFill rotWithShape="1">
            <a:blip r:embed="rId3">
              <a:alphaModFix/>
            </a:blip>
            <a:stretch>
              <a:fillRect/>
            </a:stretch>
          </a:blipFill>
          <a:ln>
            <a:noFill/>
          </a:ln>
        </p:spPr>
      </p:sp>
      <p:sp>
        <p:nvSpPr>
          <p:cNvPr id="130" name="Google Shape;130;p12"/>
          <p:cNvSpPr txBox="1"/>
          <p:nvPr/>
        </p:nvSpPr>
        <p:spPr>
          <a:xfrm>
            <a:off x="1974197" y="606047"/>
            <a:ext cx="15447330" cy="1772793"/>
          </a:xfrm>
          <a:prstGeom prst="rect">
            <a:avLst/>
          </a:prstGeom>
          <a:noFill/>
          <a:ln>
            <a:noFill/>
          </a:ln>
        </p:spPr>
        <p:txBody>
          <a:bodyPr spcFirstLastPara="1" wrap="square" lIns="0" tIns="0" rIns="0" bIns="0" anchor="t" anchorCtr="0">
            <a:spAutoFit/>
          </a:bodyPr>
          <a:lstStyle/>
          <a:p>
            <a:pPr lvl="0" algn="ctr">
              <a:lnSpc>
                <a:spcPct val="120002"/>
              </a:lnSpc>
            </a:pPr>
            <a:r>
              <a:rPr lang="en-US" sz="9600" dirty="0"/>
              <a:t>Our solution:- </a:t>
            </a:r>
            <a:r>
              <a:rPr lang="en-US" sz="9600" dirty="0" err="1"/>
              <a:t>Medsumm</a:t>
            </a:r>
            <a:endParaRPr sz="9600" dirty="0"/>
          </a:p>
        </p:txBody>
      </p:sp>
      <p:sp>
        <p:nvSpPr>
          <p:cNvPr id="134" name="Google Shape;134;p12"/>
          <p:cNvSpPr txBox="1"/>
          <p:nvPr/>
        </p:nvSpPr>
        <p:spPr>
          <a:xfrm>
            <a:off x="1824670" y="2469577"/>
            <a:ext cx="15447330" cy="3327065"/>
          </a:xfrm>
          <a:prstGeom prst="rect">
            <a:avLst/>
          </a:prstGeom>
          <a:noFill/>
          <a:ln>
            <a:noFill/>
          </a:ln>
        </p:spPr>
        <p:txBody>
          <a:bodyPr spcFirstLastPara="1" wrap="square" lIns="0" tIns="0" rIns="0" bIns="0" anchor="t" anchorCtr="0">
            <a:spAutoFit/>
          </a:bodyPr>
          <a:lstStyle/>
          <a:p>
            <a:pPr lvl="0">
              <a:lnSpc>
                <a:spcPct val="115000"/>
              </a:lnSpc>
            </a:pPr>
            <a:r>
              <a:rPr lang="en-US" sz="4400" b="1" dirty="0"/>
              <a:t>What is </a:t>
            </a:r>
            <a:r>
              <a:rPr lang="en-US" sz="4400" b="1" dirty="0" err="1"/>
              <a:t>Medsumm</a:t>
            </a:r>
            <a:r>
              <a:rPr lang="en-US" sz="4400" b="1" dirty="0"/>
              <a:t>?</a:t>
            </a:r>
            <a:endParaRPr lang="en-US" sz="3600" dirty="0"/>
          </a:p>
          <a:p>
            <a:pPr marL="571500" lvl="0" indent="-571500">
              <a:lnSpc>
                <a:spcPct val="115000"/>
              </a:lnSpc>
              <a:buFont typeface="Arial" panose="020B0604020202020204" pitchFamily="34" charset="0"/>
              <a:buChar char="•"/>
            </a:pPr>
            <a:r>
              <a:rPr lang="en-US" sz="3600" b="1" u="sng" dirty="0" err="1"/>
              <a:t>Medsumm</a:t>
            </a:r>
            <a:r>
              <a:rPr lang="en-US" sz="3600" dirty="0"/>
              <a:t> is a mobile-based platform that allows patients to store all their medical records digitally and generates a ready-to-use 1-page health summary before any doctor consultation.</a:t>
            </a:r>
          </a:p>
          <a:p>
            <a:pPr lvl="0">
              <a:lnSpc>
                <a:spcPct val="115000"/>
              </a:lnSpc>
            </a:pPr>
            <a:r>
              <a:rPr lang="en-US" sz="3600" b="1" dirty="0"/>
              <a:t>How it works:</a:t>
            </a:r>
          </a:p>
        </p:txBody>
      </p:sp>
      <p:sp>
        <p:nvSpPr>
          <p:cNvPr id="137" name="Google Shape;137;p12"/>
          <p:cNvSpPr/>
          <p:nvPr/>
        </p:nvSpPr>
        <p:spPr>
          <a:xfrm>
            <a:off x="1057275" y="692369"/>
            <a:ext cx="672662" cy="672662"/>
          </a:xfrm>
          <a:custGeom>
            <a:avLst/>
            <a:gdLst/>
            <a:ahLst/>
            <a:cxnLst/>
            <a:rect l="l" t="t" r="r" b="b"/>
            <a:pathLst>
              <a:path w="672662" h="672662" extrusionOk="0">
                <a:moveTo>
                  <a:pt x="0" y="0"/>
                </a:moveTo>
                <a:lnTo>
                  <a:pt x="672662" y="0"/>
                </a:lnTo>
                <a:lnTo>
                  <a:pt x="672662" y="672662"/>
                </a:lnTo>
                <a:lnTo>
                  <a:pt x="0" y="672662"/>
                </a:lnTo>
                <a:lnTo>
                  <a:pt x="0" y="0"/>
                </a:lnTo>
                <a:close/>
              </a:path>
            </a:pathLst>
          </a:custGeom>
          <a:blipFill rotWithShape="1">
            <a:blip r:embed="rId4">
              <a:alphaModFix/>
            </a:blip>
            <a:stretch>
              <a:fillRect/>
            </a:stretch>
          </a:blipFill>
          <a:ln>
            <a:noFill/>
          </a:ln>
        </p:spPr>
      </p:sp>
      <p:graphicFrame>
        <p:nvGraphicFramePr>
          <p:cNvPr id="2" name="Table 1">
            <a:extLst>
              <a:ext uri="{FF2B5EF4-FFF2-40B4-BE49-F238E27FC236}">
                <a16:creationId xmlns="" xmlns:a16="http://schemas.microsoft.com/office/drawing/2014/main" id="{D1D55D55-0C5E-CF6F-7083-99E5F2F1F1EB}"/>
              </a:ext>
            </a:extLst>
          </p:cNvPr>
          <p:cNvGraphicFramePr>
            <a:graphicFrameLocks noGrp="1"/>
          </p:cNvGraphicFramePr>
          <p:nvPr>
            <p:extLst>
              <p:ext uri="{D42A27DB-BD31-4B8C-83A1-F6EECF244321}">
                <p14:modId xmlns:p14="http://schemas.microsoft.com/office/powerpoint/2010/main" val="927653324"/>
              </p:ext>
            </p:extLst>
          </p:nvPr>
        </p:nvGraphicFramePr>
        <p:xfrm>
          <a:off x="2260099" y="6078154"/>
          <a:ext cx="12483801" cy="3870960"/>
        </p:xfrm>
        <a:graphic>
          <a:graphicData uri="http://schemas.openxmlformats.org/drawingml/2006/table">
            <a:tbl>
              <a:tblPr firstRow="1" bandRow="1">
                <a:tableStyleId>{E19E412E-E8D6-4022-A6EA-C9FC399ED734}</a:tableStyleId>
              </a:tblPr>
              <a:tblGrid>
                <a:gridCol w="1107216">
                  <a:extLst>
                    <a:ext uri="{9D8B030D-6E8A-4147-A177-3AD203B41FA5}">
                      <a16:colId xmlns="" xmlns:a16="http://schemas.microsoft.com/office/drawing/2014/main" val="1714656465"/>
                    </a:ext>
                  </a:extLst>
                </a:gridCol>
                <a:gridCol w="11376585">
                  <a:extLst>
                    <a:ext uri="{9D8B030D-6E8A-4147-A177-3AD203B41FA5}">
                      <a16:colId xmlns="" xmlns:a16="http://schemas.microsoft.com/office/drawing/2014/main" val="1954971655"/>
                    </a:ext>
                  </a:extLst>
                </a:gridCol>
              </a:tblGrid>
              <a:tr h="0">
                <a:tc>
                  <a:txBody>
                    <a:bodyPr/>
                    <a:lstStyle/>
                    <a:p>
                      <a:r>
                        <a:rPr lang="en-US" sz="2800" dirty="0"/>
                        <a:t>Step</a:t>
                      </a:r>
                      <a:endParaRPr lang="en-IN" sz="2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t>Action</a:t>
                      </a:r>
                    </a:p>
                    <a:p>
                      <a:endParaRPr lang="en-IN" sz="2800" dirty="0"/>
                    </a:p>
                  </a:txBody>
                  <a:tcPr/>
                </a:tc>
                <a:extLst>
                  <a:ext uri="{0D108BD9-81ED-4DB2-BD59-A6C34878D82A}">
                    <a16:rowId xmlns="" xmlns:a16="http://schemas.microsoft.com/office/drawing/2014/main" val="916923173"/>
                  </a:ext>
                </a:extLst>
              </a:tr>
              <a:tr h="370840">
                <a:tc>
                  <a:txBody>
                    <a:bodyPr/>
                    <a:lstStyle/>
                    <a:p>
                      <a:r>
                        <a:rPr lang="en-IN" sz="2800" dirty="0"/>
                        <a:t>1</a:t>
                      </a:r>
                    </a:p>
                  </a:txBody>
                  <a:tcPr/>
                </a:tc>
                <a:tc>
                  <a:txBody>
                    <a:bodyPr/>
                    <a:lstStyle/>
                    <a:p>
                      <a:r>
                        <a:rPr lang="en-US" sz="2800" dirty="0"/>
                        <a:t>Patient uploads lab reports, prescriptions, or doctor notes (photo or PDF)</a:t>
                      </a:r>
                      <a:endParaRPr lang="en-IN" sz="2800" dirty="0"/>
                    </a:p>
                  </a:txBody>
                  <a:tcPr/>
                </a:tc>
                <a:extLst>
                  <a:ext uri="{0D108BD9-81ED-4DB2-BD59-A6C34878D82A}">
                    <a16:rowId xmlns="" xmlns:a16="http://schemas.microsoft.com/office/drawing/2014/main" val="373838557"/>
                  </a:ext>
                </a:extLst>
              </a:tr>
              <a:tr h="370840">
                <a:tc>
                  <a:txBody>
                    <a:bodyPr/>
                    <a:lstStyle/>
                    <a:p>
                      <a:r>
                        <a:rPr lang="en-IN" sz="2800" dirty="0"/>
                        <a:t>2</a:t>
                      </a:r>
                    </a:p>
                  </a:txBody>
                  <a:tcPr/>
                </a:tc>
                <a:tc>
                  <a:txBody>
                    <a:bodyPr/>
                    <a:lstStyle/>
                    <a:p>
                      <a:r>
                        <a:rPr lang="en-US" sz="2800" dirty="0"/>
                        <a:t>System automatically extracts key medical information using OCR + AI</a:t>
                      </a:r>
                      <a:endParaRPr lang="en-IN" sz="2800" dirty="0"/>
                    </a:p>
                  </a:txBody>
                  <a:tcPr/>
                </a:tc>
                <a:extLst>
                  <a:ext uri="{0D108BD9-81ED-4DB2-BD59-A6C34878D82A}">
                    <a16:rowId xmlns="" xmlns:a16="http://schemas.microsoft.com/office/drawing/2014/main" val="3822824468"/>
                  </a:ext>
                </a:extLst>
              </a:tr>
              <a:tr h="370840">
                <a:tc>
                  <a:txBody>
                    <a:bodyPr/>
                    <a:lstStyle/>
                    <a:p>
                      <a:r>
                        <a:rPr lang="en-IN" sz="2800" dirty="0"/>
                        <a:t>3</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t>Before a doctor visit, patient clicks "Generate Summary"</a:t>
                      </a:r>
                    </a:p>
                    <a:p>
                      <a:endParaRPr lang="en-IN" sz="2800" dirty="0"/>
                    </a:p>
                  </a:txBody>
                  <a:tcPr/>
                </a:tc>
                <a:extLst>
                  <a:ext uri="{0D108BD9-81ED-4DB2-BD59-A6C34878D82A}">
                    <a16:rowId xmlns="" xmlns:a16="http://schemas.microsoft.com/office/drawing/2014/main" val="132783999"/>
                  </a:ext>
                </a:extLst>
              </a:tr>
              <a:tr h="393700">
                <a:tc>
                  <a:txBody>
                    <a:bodyPr/>
                    <a:lstStyle/>
                    <a:p>
                      <a:r>
                        <a:rPr lang="en-IN" sz="2800" dirty="0"/>
                        <a:t>4</a:t>
                      </a:r>
                    </a:p>
                  </a:txBody>
                  <a:tcPr/>
                </a:tc>
                <a:tc>
                  <a:txBody>
                    <a:bodyPr/>
                    <a:lstStyle/>
                    <a:p>
                      <a:r>
                        <a:rPr lang="en-US" sz="2800" dirty="0"/>
                        <a:t>A clean 1-page structured summary is created instantly</a:t>
                      </a:r>
                      <a:endParaRPr lang="en-IN" sz="2800" dirty="0"/>
                    </a:p>
                  </a:txBody>
                  <a:tcPr/>
                </a:tc>
                <a:extLst>
                  <a:ext uri="{0D108BD9-81ED-4DB2-BD59-A6C34878D82A}">
                    <a16:rowId xmlns="" xmlns:a16="http://schemas.microsoft.com/office/drawing/2014/main" val="135954080"/>
                  </a:ext>
                </a:extLst>
              </a:tr>
            </a:tbl>
          </a:graphicData>
        </a:graphic>
      </p:graphicFrame>
      <p:sp>
        <p:nvSpPr>
          <p:cNvPr id="3" name="Google Shape;137;p12">
            <a:extLst>
              <a:ext uri="{FF2B5EF4-FFF2-40B4-BE49-F238E27FC236}">
                <a16:creationId xmlns="" xmlns:a16="http://schemas.microsoft.com/office/drawing/2014/main" id="{8367A1CC-27D6-9E61-B400-3CFCB58D2D1D}"/>
              </a:ext>
            </a:extLst>
          </p:cNvPr>
          <p:cNvSpPr/>
          <p:nvPr/>
        </p:nvSpPr>
        <p:spPr>
          <a:xfrm>
            <a:off x="17272000" y="606047"/>
            <a:ext cx="672662" cy="672662"/>
          </a:xfrm>
          <a:custGeom>
            <a:avLst/>
            <a:gdLst/>
            <a:ahLst/>
            <a:cxnLst/>
            <a:rect l="l" t="t" r="r" b="b"/>
            <a:pathLst>
              <a:path w="672662" h="672662" extrusionOk="0">
                <a:moveTo>
                  <a:pt x="0" y="0"/>
                </a:moveTo>
                <a:lnTo>
                  <a:pt x="672662" y="0"/>
                </a:lnTo>
                <a:lnTo>
                  <a:pt x="672662" y="672662"/>
                </a:lnTo>
                <a:lnTo>
                  <a:pt x="0" y="672662"/>
                </a:lnTo>
                <a:lnTo>
                  <a:pt x="0" y="0"/>
                </a:lnTo>
                <a:close/>
              </a:path>
            </a:pathLst>
          </a:custGeom>
          <a:blipFill rotWithShape="1">
            <a:blip r:embed="rId4">
              <a:alphaModFix/>
            </a:blip>
            <a:stretch>
              <a:fillRect/>
            </a:stretch>
          </a:blipFill>
          <a:ln>
            <a:noFill/>
          </a:ln>
        </p:spPr>
      </p:sp>
      <p:sp>
        <p:nvSpPr>
          <p:cNvPr id="4" name="Google Shape;137;p12">
            <a:extLst>
              <a:ext uri="{FF2B5EF4-FFF2-40B4-BE49-F238E27FC236}">
                <a16:creationId xmlns="" xmlns:a16="http://schemas.microsoft.com/office/drawing/2014/main" id="{0B699561-59CB-63E1-6453-14D1C09687D2}"/>
              </a:ext>
            </a:extLst>
          </p:cNvPr>
          <p:cNvSpPr/>
          <p:nvPr/>
        </p:nvSpPr>
        <p:spPr>
          <a:xfrm>
            <a:off x="17272000" y="9154962"/>
            <a:ext cx="672662" cy="672662"/>
          </a:xfrm>
          <a:custGeom>
            <a:avLst/>
            <a:gdLst/>
            <a:ahLst/>
            <a:cxnLst/>
            <a:rect l="l" t="t" r="r" b="b"/>
            <a:pathLst>
              <a:path w="672662" h="672662" extrusionOk="0">
                <a:moveTo>
                  <a:pt x="0" y="0"/>
                </a:moveTo>
                <a:lnTo>
                  <a:pt x="672662" y="0"/>
                </a:lnTo>
                <a:lnTo>
                  <a:pt x="672662" y="672662"/>
                </a:lnTo>
                <a:lnTo>
                  <a:pt x="0" y="672662"/>
                </a:lnTo>
                <a:lnTo>
                  <a:pt x="0" y="0"/>
                </a:lnTo>
                <a:close/>
              </a:path>
            </a:pathLst>
          </a:custGeom>
          <a:blipFill rotWithShape="1">
            <a:blip r:embed="rId4">
              <a:alphaModFix/>
            </a:blip>
            <a:stretch>
              <a:fillRect/>
            </a:stretch>
          </a:blipFill>
          <a:ln>
            <a:noFill/>
          </a:ln>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grpSp>
        <p:nvGrpSpPr>
          <p:cNvPr id="147" name="Google Shape;147;p13"/>
          <p:cNvGrpSpPr/>
          <p:nvPr/>
        </p:nvGrpSpPr>
        <p:grpSpPr>
          <a:xfrm>
            <a:off x="3225513" y="1085850"/>
            <a:ext cx="6181006" cy="1169485"/>
            <a:chOff x="0" y="-38100"/>
            <a:chExt cx="1036797" cy="308013"/>
          </a:xfrm>
        </p:grpSpPr>
        <p:sp>
          <p:nvSpPr>
            <p:cNvPr id="148" name="Google Shape;148;p13"/>
            <p:cNvSpPr/>
            <p:nvPr/>
          </p:nvSpPr>
          <p:spPr>
            <a:xfrm>
              <a:off x="0" y="0"/>
              <a:ext cx="1036797" cy="269913"/>
            </a:xfrm>
            <a:custGeom>
              <a:avLst/>
              <a:gdLst/>
              <a:ahLst/>
              <a:cxnLst/>
              <a:rect l="l" t="t" r="r" b="b"/>
              <a:pathLst>
                <a:path w="1036797" h="269913" extrusionOk="0">
                  <a:moveTo>
                    <a:pt x="39333" y="0"/>
                  </a:moveTo>
                  <a:lnTo>
                    <a:pt x="997464" y="0"/>
                  </a:lnTo>
                  <a:cubicBezTo>
                    <a:pt x="1019187" y="0"/>
                    <a:pt x="1036797" y="17610"/>
                    <a:pt x="1036797" y="39333"/>
                  </a:cubicBezTo>
                  <a:lnTo>
                    <a:pt x="1036797" y="230579"/>
                  </a:lnTo>
                  <a:cubicBezTo>
                    <a:pt x="1036797" y="252303"/>
                    <a:pt x="1019187" y="269913"/>
                    <a:pt x="997464" y="269913"/>
                  </a:cubicBezTo>
                  <a:lnTo>
                    <a:pt x="39333" y="269913"/>
                  </a:lnTo>
                  <a:cubicBezTo>
                    <a:pt x="17610" y="269913"/>
                    <a:pt x="0" y="252303"/>
                    <a:pt x="0" y="230579"/>
                  </a:cubicBezTo>
                  <a:lnTo>
                    <a:pt x="0" y="39333"/>
                  </a:lnTo>
                  <a:cubicBezTo>
                    <a:pt x="0" y="17610"/>
                    <a:pt x="17610" y="0"/>
                    <a:pt x="39333"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3"/>
            <p:cNvSpPr txBox="1"/>
            <p:nvPr/>
          </p:nvSpPr>
          <p:spPr>
            <a:xfrm>
              <a:off x="0" y="-38100"/>
              <a:ext cx="1036797" cy="308013"/>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0" name="Google Shape;150;p13"/>
          <p:cNvSpPr/>
          <p:nvPr/>
        </p:nvSpPr>
        <p:spPr>
          <a:xfrm>
            <a:off x="447220" y="399215"/>
            <a:ext cx="1672695" cy="1672695"/>
          </a:xfrm>
          <a:custGeom>
            <a:avLst/>
            <a:gdLst/>
            <a:ahLst/>
            <a:cxnLst/>
            <a:rect l="l" t="t" r="r" b="b"/>
            <a:pathLst>
              <a:path w="1672695" h="1672695" extrusionOk="0">
                <a:moveTo>
                  <a:pt x="0" y="0"/>
                </a:moveTo>
                <a:lnTo>
                  <a:pt x="1672695" y="0"/>
                </a:lnTo>
                <a:lnTo>
                  <a:pt x="1672695" y="1672695"/>
                </a:lnTo>
                <a:lnTo>
                  <a:pt x="0" y="1672695"/>
                </a:lnTo>
                <a:lnTo>
                  <a:pt x="0" y="0"/>
                </a:lnTo>
                <a:close/>
              </a:path>
            </a:pathLst>
          </a:custGeom>
          <a:blipFill rotWithShape="1">
            <a:blip r:embed="rId3">
              <a:alphaModFix/>
            </a:blip>
            <a:stretch>
              <a:fillRect/>
            </a:stretch>
          </a:blipFill>
          <a:ln>
            <a:noFill/>
          </a:ln>
        </p:spPr>
      </p:sp>
      <p:sp>
        <p:nvSpPr>
          <p:cNvPr id="151" name="Google Shape;151;p13"/>
          <p:cNvSpPr txBox="1"/>
          <p:nvPr/>
        </p:nvSpPr>
        <p:spPr>
          <a:xfrm>
            <a:off x="3339377" y="1230511"/>
            <a:ext cx="6809681" cy="1245790"/>
          </a:xfrm>
          <a:prstGeom prst="rect">
            <a:avLst/>
          </a:prstGeom>
          <a:noFill/>
          <a:ln>
            <a:noFill/>
          </a:ln>
        </p:spPr>
        <p:txBody>
          <a:bodyPr spcFirstLastPara="1" wrap="square" lIns="0" tIns="0" rIns="0" bIns="0" anchor="t" anchorCtr="0">
            <a:spAutoFit/>
          </a:bodyPr>
          <a:lstStyle/>
          <a:p>
            <a:pPr marL="0" marR="0" lvl="0" indent="0" algn="l" rtl="0">
              <a:lnSpc>
                <a:spcPct val="91999"/>
              </a:lnSpc>
              <a:spcBef>
                <a:spcPts val="0"/>
              </a:spcBef>
              <a:spcAft>
                <a:spcPts val="0"/>
              </a:spcAft>
              <a:buNone/>
            </a:pPr>
            <a:r>
              <a:rPr lang="en-US" sz="8799" b="1" dirty="0">
                <a:solidFill>
                  <a:srgbClr val="1E1A1B"/>
                </a:solidFill>
                <a:latin typeface="News Cycle"/>
                <a:sym typeface="News Cycle"/>
              </a:rPr>
              <a:t>FLOWCHART</a:t>
            </a:r>
            <a:endParaRPr dirty="0"/>
          </a:p>
        </p:txBody>
      </p:sp>
      <p:sp>
        <p:nvSpPr>
          <p:cNvPr id="3" name="Oval 2">
            <a:extLst>
              <a:ext uri="{FF2B5EF4-FFF2-40B4-BE49-F238E27FC236}">
                <a16:creationId xmlns="" xmlns:a16="http://schemas.microsoft.com/office/drawing/2014/main" id="{BA3912DD-DEFC-FBB1-BE6D-11FFCC6C173F}"/>
              </a:ext>
            </a:extLst>
          </p:cNvPr>
          <p:cNvSpPr/>
          <p:nvPr/>
        </p:nvSpPr>
        <p:spPr>
          <a:xfrm>
            <a:off x="217695" y="2982681"/>
            <a:ext cx="3781919" cy="2307771"/>
          </a:xfrm>
          <a:prstGeom prst="ellipse">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Step 1</a:t>
            </a:r>
            <a:r>
              <a:rPr lang="en-US" sz="2400" dirty="0"/>
              <a:t>: User uploads report photo/PDF  ( OCR extracts all text from image  )</a:t>
            </a:r>
            <a:endParaRPr lang="en-IN" sz="2400" dirty="0"/>
          </a:p>
        </p:txBody>
      </p:sp>
      <p:sp>
        <p:nvSpPr>
          <p:cNvPr id="4" name="Oval 3">
            <a:extLst>
              <a:ext uri="{FF2B5EF4-FFF2-40B4-BE49-F238E27FC236}">
                <a16:creationId xmlns="" xmlns:a16="http://schemas.microsoft.com/office/drawing/2014/main" id="{02F6EBB2-C304-1128-69EC-652BC61D5C48}"/>
              </a:ext>
            </a:extLst>
          </p:cNvPr>
          <p:cNvSpPr/>
          <p:nvPr/>
        </p:nvSpPr>
        <p:spPr>
          <a:xfrm>
            <a:off x="4868083" y="2989942"/>
            <a:ext cx="3781919" cy="2307771"/>
          </a:xfrm>
          <a:prstGeom prst="ellipse">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t>Step 2</a:t>
            </a:r>
            <a:r>
              <a:rPr lang="en-IN" sz="2000" dirty="0"/>
              <a:t>: AI identifies key medical info                  </a:t>
            </a:r>
          </a:p>
          <a:p>
            <a:pPr algn="ctr"/>
            <a:r>
              <a:rPr lang="en-IN" sz="2000" dirty="0"/>
              <a:t>• Medicine names , Symptoms (recurring) ,        Allergies , Test results &amp; dates</a:t>
            </a:r>
          </a:p>
        </p:txBody>
      </p:sp>
      <p:sp>
        <p:nvSpPr>
          <p:cNvPr id="5" name="Oval 4">
            <a:extLst>
              <a:ext uri="{FF2B5EF4-FFF2-40B4-BE49-F238E27FC236}">
                <a16:creationId xmlns="" xmlns:a16="http://schemas.microsoft.com/office/drawing/2014/main" id="{356E31DE-D3ED-205D-BE0A-C3FCA100B723}"/>
              </a:ext>
            </a:extLst>
          </p:cNvPr>
          <p:cNvSpPr/>
          <p:nvPr/>
        </p:nvSpPr>
        <p:spPr>
          <a:xfrm>
            <a:off x="9457319" y="2989942"/>
            <a:ext cx="3781919" cy="2307771"/>
          </a:xfrm>
          <a:prstGeom prst="ellipse">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t>Step 3: </a:t>
            </a:r>
            <a:r>
              <a:rPr lang="en-US" sz="3600" dirty="0"/>
              <a:t>Data stored securely in cloud</a:t>
            </a:r>
            <a:endParaRPr lang="en-IN" sz="3600" dirty="0"/>
          </a:p>
        </p:txBody>
      </p:sp>
      <p:sp>
        <p:nvSpPr>
          <p:cNvPr id="6" name="Oval 5">
            <a:extLst>
              <a:ext uri="{FF2B5EF4-FFF2-40B4-BE49-F238E27FC236}">
                <a16:creationId xmlns="" xmlns:a16="http://schemas.microsoft.com/office/drawing/2014/main" id="{AFB3E54A-99E7-F387-E17B-5B2B66A7BDCA}"/>
              </a:ext>
            </a:extLst>
          </p:cNvPr>
          <p:cNvSpPr/>
          <p:nvPr/>
        </p:nvSpPr>
        <p:spPr>
          <a:xfrm>
            <a:off x="14046555" y="2989942"/>
            <a:ext cx="3781919" cy="2307771"/>
          </a:xfrm>
          <a:prstGeom prst="ellipse">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Step 4</a:t>
            </a:r>
            <a:r>
              <a:rPr lang="en-US" sz="2400" dirty="0"/>
              <a:t>: User clicks "Generate Summary" (Before doctor visit)</a:t>
            </a:r>
            <a:endParaRPr lang="en-IN" sz="2400" dirty="0"/>
          </a:p>
        </p:txBody>
      </p:sp>
      <p:sp>
        <p:nvSpPr>
          <p:cNvPr id="9" name="Oval 8">
            <a:extLst>
              <a:ext uri="{FF2B5EF4-FFF2-40B4-BE49-F238E27FC236}">
                <a16:creationId xmlns="" xmlns:a16="http://schemas.microsoft.com/office/drawing/2014/main" id="{38642974-C154-ACB4-3590-AB4ACDA710A7}"/>
              </a:ext>
            </a:extLst>
          </p:cNvPr>
          <p:cNvSpPr/>
          <p:nvPr/>
        </p:nvSpPr>
        <p:spPr>
          <a:xfrm>
            <a:off x="11930743" y="6290328"/>
            <a:ext cx="6357257" cy="3695501"/>
          </a:xfrm>
          <a:prstGeom prst="ellipse">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Step 5</a:t>
            </a:r>
            <a:r>
              <a:rPr lang="en-US" sz="2400" dirty="0"/>
              <a:t>: 1-page health summary will get ready (In which there will be your all information  will be present related to Health )                           {Now you can Share it with doctor }</a:t>
            </a:r>
            <a:endParaRPr lang="en-IN" sz="2400" dirty="0"/>
          </a:p>
        </p:txBody>
      </p:sp>
      <p:sp>
        <p:nvSpPr>
          <p:cNvPr id="11" name="Arrow: Right 10">
            <a:extLst>
              <a:ext uri="{FF2B5EF4-FFF2-40B4-BE49-F238E27FC236}">
                <a16:creationId xmlns="" xmlns:a16="http://schemas.microsoft.com/office/drawing/2014/main" id="{77F74F10-A9D5-9CC8-00A7-9696CB9C28BE}"/>
              </a:ext>
            </a:extLst>
          </p:cNvPr>
          <p:cNvSpPr/>
          <p:nvPr/>
        </p:nvSpPr>
        <p:spPr>
          <a:xfrm>
            <a:off x="4111566" y="3799110"/>
            <a:ext cx="655825" cy="689433"/>
          </a:xfrm>
          <a:prstGeom prst="rightArrow">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Right 11">
            <a:extLst>
              <a:ext uri="{FF2B5EF4-FFF2-40B4-BE49-F238E27FC236}">
                <a16:creationId xmlns="" xmlns:a16="http://schemas.microsoft.com/office/drawing/2014/main" id="{006D942B-53FD-AD2D-CCCA-D5FFF236D86F}"/>
              </a:ext>
            </a:extLst>
          </p:cNvPr>
          <p:cNvSpPr/>
          <p:nvPr/>
        </p:nvSpPr>
        <p:spPr>
          <a:xfrm>
            <a:off x="8750694" y="3791851"/>
            <a:ext cx="655825" cy="689433"/>
          </a:xfrm>
          <a:prstGeom prst="rightArrow">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Right 12">
            <a:extLst>
              <a:ext uri="{FF2B5EF4-FFF2-40B4-BE49-F238E27FC236}">
                <a16:creationId xmlns="" xmlns:a16="http://schemas.microsoft.com/office/drawing/2014/main" id="{769495BE-15A1-F0C0-0259-C596986D61E3}"/>
              </a:ext>
            </a:extLst>
          </p:cNvPr>
          <p:cNvSpPr/>
          <p:nvPr/>
        </p:nvSpPr>
        <p:spPr>
          <a:xfrm>
            <a:off x="13351190" y="3813620"/>
            <a:ext cx="655825" cy="689433"/>
          </a:xfrm>
          <a:prstGeom prst="rightArrow">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 xmlns:a16="http://schemas.microsoft.com/office/drawing/2014/main" id="{7EA20ABA-3D81-61C4-65D1-B50080AC41BC}"/>
              </a:ext>
            </a:extLst>
          </p:cNvPr>
          <p:cNvSpPr/>
          <p:nvPr/>
        </p:nvSpPr>
        <p:spPr>
          <a:xfrm rot="5400000">
            <a:off x="15609601" y="5449304"/>
            <a:ext cx="655825" cy="689433"/>
          </a:xfrm>
          <a:prstGeom prst="rightArrow">
            <a:avLst/>
          </a:prstGeom>
          <a:solidFill>
            <a:srgbClr val="09D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 name="Google Shape;86;p10">
            <a:extLst>
              <a:ext uri="{FF2B5EF4-FFF2-40B4-BE49-F238E27FC236}">
                <a16:creationId xmlns="" xmlns:a16="http://schemas.microsoft.com/office/drawing/2014/main" id="{331226B2-422A-71DB-1BBC-18CB58D3DB49}"/>
              </a:ext>
            </a:extLst>
          </p:cNvPr>
          <p:cNvGrpSpPr/>
          <p:nvPr/>
        </p:nvGrpSpPr>
        <p:grpSpPr>
          <a:xfrm>
            <a:off x="0" y="6017798"/>
            <a:ext cx="9292613" cy="4307302"/>
            <a:chOff x="0" y="-47625"/>
            <a:chExt cx="1634336" cy="2786200"/>
          </a:xfrm>
        </p:grpSpPr>
        <p:sp>
          <p:nvSpPr>
            <p:cNvPr id="18" name="Google Shape;87;p10">
              <a:extLst>
                <a:ext uri="{FF2B5EF4-FFF2-40B4-BE49-F238E27FC236}">
                  <a16:creationId xmlns="" xmlns:a16="http://schemas.microsoft.com/office/drawing/2014/main" id="{561A6A8E-D272-1021-17D5-7EE740A343B1}"/>
                </a:ext>
              </a:extLst>
            </p:cNvPr>
            <p:cNvSpPr/>
            <p:nvPr/>
          </p:nvSpPr>
          <p:spPr>
            <a:xfrm>
              <a:off x="0" y="0"/>
              <a:ext cx="1634336" cy="2738575"/>
            </a:xfrm>
            <a:custGeom>
              <a:avLst/>
              <a:gdLst/>
              <a:ahLst/>
              <a:cxnLst/>
              <a:rect l="l" t="t" r="r" b="b"/>
              <a:pathLst>
                <a:path w="1634336" h="2738575" extrusionOk="0">
                  <a:moveTo>
                    <a:pt x="0" y="0"/>
                  </a:moveTo>
                  <a:lnTo>
                    <a:pt x="1634336" y="0"/>
                  </a:lnTo>
                  <a:lnTo>
                    <a:pt x="1634336" y="2738575"/>
                  </a:lnTo>
                  <a:lnTo>
                    <a:pt x="0" y="2738575"/>
                  </a:lnTo>
                  <a:close/>
                </a:path>
              </a:pathLst>
            </a:custGeom>
            <a:solidFill>
              <a:srgbClr val="2DCD9D"/>
            </a:solidFill>
            <a:ln>
              <a:noFill/>
            </a:ln>
          </p:spPr>
        </p:sp>
        <p:sp>
          <p:nvSpPr>
            <p:cNvPr id="19" name="Google Shape;88;p10">
              <a:extLst>
                <a:ext uri="{FF2B5EF4-FFF2-40B4-BE49-F238E27FC236}">
                  <a16:creationId xmlns="" xmlns:a16="http://schemas.microsoft.com/office/drawing/2014/main" id="{B56D1714-866C-1985-729B-049D46D9FD45}"/>
                </a:ext>
              </a:extLst>
            </p:cNvPr>
            <p:cNvSpPr txBox="1"/>
            <p:nvPr/>
          </p:nvSpPr>
          <p:spPr>
            <a:xfrm>
              <a:off x="0" y="-47625"/>
              <a:ext cx="1634336" cy="27862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24" name="Picture 23">
            <a:extLst>
              <a:ext uri="{FF2B5EF4-FFF2-40B4-BE49-F238E27FC236}">
                <a16:creationId xmlns="" xmlns:a16="http://schemas.microsoft.com/office/drawing/2014/main" id="{418E113E-564D-84E8-89D4-0B8ADE172556}"/>
              </a:ext>
            </a:extLst>
          </p:cNvPr>
          <p:cNvPicPr>
            <a:picLocks noChangeAspect="1"/>
          </p:cNvPicPr>
          <p:nvPr/>
        </p:nvPicPr>
        <p:blipFill>
          <a:blip r:embed="rId4"/>
          <a:stretch>
            <a:fillRect/>
          </a:stretch>
        </p:blipFill>
        <p:spPr>
          <a:xfrm>
            <a:off x="911082" y="6465204"/>
            <a:ext cx="7056792" cy="3345748"/>
          </a:xfrm>
          <a:prstGeom prst="rect">
            <a:avLst/>
          </a:prstGeom>
          <a:ln>
            <a:noFill/>
          </a:ln>
          <a:effectLst>
            <a:softEdge rad="112500"/>
          </a:effectLst>
        </p:spPr>
      </p:pic>
      <p:sp>
        <p:nvSpPr>
          <p:cNvPr id="25" name="Google Shape;150;p13">
            <a:extLst>
              <a:ext uri="{FF2B5EF4-FFF2-40B4-BE49-F238E27FC236}">
                <a16:creationId xmlns="" xmlns:a16="http://schemas.microsoft.com/office/drawing/2014/main" id="{C7FB0711-6F45-4A4D-C552-7252E406173A}"/>
              </a:ext>
            </a:extLst>
          </p:cNvPr>
          <p:cNvSpPr/>
          <p:nvPr/>
        </p:nvSpPr>
        <p:spPr>
          <a:xfrm rot="5400000">
            <a:off x="15937513" y="254732"/>
            <a:ext cx="1672695" cy="1672695"/>
          </a:xfrm>
          <a:custGeom>
            <a:avLst/>
            <a:gdLst/>
            <a:ahLst/>
            <a:cxnLst/>
            <a:rect l="l" t="t" r="r" b="b"/>
            <a:pathLst>
              <a:path w="1672695" h="1672695" extrusionOk="0">
                <a:moveTo>
                  <a:pt x="0" y="0"/>
                </a:moveTo>
                <a:lnTo>
                  <a:pt x="1672695" y="0"/>
                </a:lnTo>
                <a:lnTo>
                  <a:pt x="1672695" y="1672695"/>
                </a:lnTo>
                <a:lnTo>
                  <a:pt x="0" y="1672695"/>
                </a:lnTo>
                <a:lnTo>
                  <a:pt x="0" y="0"/>
                </a:lnTo>
                <a:close/>
              </a:path>
            </a:pathLst>
          </a:custGeom>
          <a:blipFill rotWithShape="1">
            <a:blip r:embed="rId3">
              <a:alphaModFix/>
            </a:blip>
            <a:stretch>
              <a:fillRect/>
            </a:stretch>
          </a:blipFill>
          <a:ln>
            <a:noFill/>
          </a:ln>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69" name="Google Shape;169;p14"/>
          <p:cNvSpPr/>
          <p:nvPr/>
        </p:nvSpPr>
        <p:spPr>
          <a:xfrm rot="16200000">
            <a:off x="7860929" y="8042085"/>
            <a:ext cx="2566139" cy="4114800"/>
          </a:xfrm>
          <a:custGeom>
            <a:avLst/>
            <a:gdLst/>
            <a:ahLst/>
            <a:cxnLst/>
            <a:rect l="l" t="t" r="r" b="b"/>
            <a:pathLst>
              <a:path w="2566139" h="4114800" extrusionOk="0">
                <a:moveTo>
                  <a:pt x="0" y="0"/>
                </a:moveTo>
                <a:lnTo>
                  <a:pt x="2566138" y="0"/>
                </a:lnTo>
                <a:lnTo>
                  <a:pt x="2566138" y="4114800"/>
                </a:lnTo>
                <a:lnTo>
                  <a:pt x="0" y="4114800"/>
                </a:lnTo>
                <a:lnTo>
                  <a:pt x="0" y="0"/>
                </a:lnTo>
                <a:close/>
              </a:path>
            </a:pathLst>
          </a:custGeom>
          <a:blipFill rotWithShape="1">
            <a:blip r:embed="rId3">
              <a:alphaModFix/>
            </a:blip>
            <a:stretch>
              <a:fillRect/>
            </a:stretch>
          </a:blipFill>
          <a:ln>
            <a:noFill/>
          </a:ln>
        </p:spPr>
      </p:sp>
      <p:grpSp>
        <p:nvGrpSpPr>
          <p:cNvPr id="170" name="Google Shape;170;p14"/>
          <p:cNvGrpSpPr/>
          <p:nvPr/>
        </p:nvGrpSpPr>
        <p:grpSpPr>
          <a:xfrm>
            <a:off x="4991124" y="1327918"/>
            <a:ext cx="9175449" cy="1017085"/>
            <a:chOff x="0" y="-38100"/>
            <a:chExt cx="2187522" cy="267874"/>
          </a:xfrm>
        </p:grpSpPr>
        <p:sp>
          <p:nvSpPr>
            <p:cNvPr id="171" name="Google Shape;171;p14"/>
            <p:cNvSpPr/>
            <p:nvPr/>
          </p:nvSpPr>
          <p:spPr>
            <a:xfrm>
              <a:off x="0" y="0"/>
              <a:ext cx="2187522" cy="229774"/>
            </a:xfrm>
            <a:custGeom>
              <a:avLst/>
              <a:gdLst/>
              <a:ahLst/>
              <a:cxnLst/>
              <a:rect l="l" t="t" r="r" b="b"/>
              <a:pathLst>
                <a:path w="2187522" h="229774" extrusionOk="0">
                  <a:moveTo>
                    <a:pt x="18642" y="0"/>
                  </a:moveTo>
                  <a:lnTo>
                    <a:pt x="2168879" y="0"/>
                  </a:lnTo>
                  <a:cubicBezTo>
                    <a:pt x="2179175" y="0"/>
                    <a:pt x="2187522" y="8346"/>
                    <a:pt x="2187522" y="18642"/>
                  </a:cubicBezTo>
                  <a:lnTo>
                    <a:pt x="2187522" y="211132"/>
                  </a:lnTo>
                  <a:cubicBezTo>
                    <a:pt x="2187522" y="221428"/>
                    <a:pt x="2179175" y="229774"/>
                    <a:pt x="2168879" y="229774"/>
                  </a:cubicBezTo>
                  <a:lnTo>
                    <a:pt x="18642" y="229774"/>
                  </a:lnTo>
                  <a:cubicBezTo>
                    <a:pt x="8346" y="229774"/>
                    <a:pt x="0" y="221428"/>
                    <a:pt x="0" y="211132"/>
                  </a:cubicBezTo>
                  <a:lnTo>
                    <a:pt x="0" y="18642"/>
                  </a:lnTo>
                  <a:cubicBezTo>
                    <a:pt x="0" y="8346"/>
                    <a:pt x="8346" y="0"/>
                    <a:pt x="18642"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4"/>
            <p:cNvSpPr txBox="1"/>
            <p:nvPr/>
          </p:nvSpPr>
          <p:spPr>
            <a:xfrm>
              <a:off x="0" y="-38100"/>
              <a:ext cx="2187521" cy="267874"/>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3" name="Google Shape;173;p14"/>
          <p:cNvSpPr txBox="1"/>
          <p:nvPr/>
        </p:nvSpPr>
        <p:spPr>
          <a:xfrm>
            <a:off x="4503515" y="1514396"/>
            <a:ext cx="9919598" cy="1019382"/>
          </a:xfrm>
          <a:prstGeom prst="rect">
            <a:avLst/>
          </a:prstGeom>
          <a:noFill/>
          <a:ln>
            <a:noFill/>
          </a:ln>
        </p:spPr>
        <p:txBody>
          <a:bodyPr spcFirstLastPara="1" wrap="square" lIns="0" tIns="0" rIns="0" bIns="0" anchor="t" anchorCtr="0">
            <a:spAutoFit/>
          </a:bodyPr>
          <a:lstStyle/>
          <a:p>
            <a:pPr marL="0" marR="0" lvl="0" indent="0" algn="ctr" rtl="0">
              <a:lnSpc>
                <a:spcPct val="92000"/>
              </a:lnSpc>
              <a:spcBef>
                <a:spcPts val="0"/>
              </a:spcBef>
              <a:spcAft>
                <a:spcPts val="0"/>
              </a:spcAft>
              <a:buNone/>
            </a:pPr>
            <a:r>
              <a:rPr lang="en-US" sz="7200" b="1" dirty="0">
                <a:solidFill>
                  <a:srgbClr val="1E1A1B"/>
                </a:solidFill>
                <a:latin typeface="News Cycle"/>
                <a:sym typeface="News Cycle"/>
              </a:rPr>
              <a:t>IMPACT OF MADSUMM</a:t>
            </a:r>
            <a:endParaRPr dirty="0"/>
          </a:p>
        </p:txBody>
      </p:sp>
      <p:sp>
        <p:nvSpPr>
          <p:cNvPr id="2" name="TextBox 1">
            <a:extLst>
              <a:ext uri="{FF2B5EF4-FFF2-40B4-BE49-F238E27FC236}">
                <a16:creationId xmlns="" xmlns:a16="http://schemas.microsoft.com/office/drawing/2014/main" id="{C12568B8-C22C-9FCB-8209-D831F854EC67}"/>
              </a:ext>
            </a:extLst>
          </p:cNvPr>
          <p:cNvSpPr txBox="1"/>
          <p:nvPr/>
        </p:nvSpPr>
        <p:spPr>
          <a:xfrm>
            <a:off x="537029" y="2720256"/>
            <a:ext cx="16734971" cy="6124754"/>
          </a:xfrm>
          <a:prstGeom prst="rect">
            <a:avLst/>
          </a:prstGeom>
          <a:noFill/>
        </p:spPr>
        <p:txBody>
          <a:bodyPr wrap="square" rtlCol="0">
            <a:spAutoFit/>
          </a:bodyPr>
          <a:lstStyle/>
          <a:p>
            <a:endParaRPr lang="en-US" sz="2800" dirty="0"/>
          </a:p>
          <a:p>
            <a:endParaRPr lang="en-US" sz="2800" dirty="0"/>
          </a:p>
          <a:p>
            <a:pPr marL="457200" indent="-457200">
              <a:buFont typeface="Arial" panose="020B0604020202020204" pitchFamily="34" charset="0"/>
              <a:buChar char="•"/>
            </a:pPr>
            <a:r>
              <a:rPr lang="en-US" sz="2800" dirty="0"/>
              <a:t>Patients no longer have to carry heavy paper files to every doctor visit. Doctors can see a patient's complete medical history in just 30 seconds instead of asking 20 questions. Elderly patients can have their family members manage their health records from far away. Rural clinics can offer digital records without spending big money on expensive hospital systems.</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Before </a:t>
            </a:r>
            <a:r>
              <a:rPr lang="en-US" sz="2800" dirty="0" err="1"/>
              <a:t>Madsumm</a:t>
            </a:r>
            <a:r>
              <a:rPr lang="en-US" sz="2800" dirty="0"/>
              <a:t>, patients carried heavy paper files, doctors wasted time asking many questions, allergies were often forgotten, reports got lost easily, and same tests were repeated again and again. After </a:t>
            </a:r>
            <a:r>
              <a:rPr lang="en-US" sz="2800" dirty="0" err="1"/>
              <a:t>Madsumm</a:t>
            </a:r>
            <a:r>
              <a:rPr lang="en-US" sz="2800" dirty="0"/>
              <a:t>, everything is on your phone, doctors see a summary in 30 seconds, allergies are auto-flagged, all reports are safe in one place, and past reports are visible so no repeat tests are needed.</a:t>
            </a:r>
            <a:endParaRPr lang="en-IN" sz="2800" dirty="0"/>
          </a:p>
        </p:txBody>
      </p:sp>
      <p:grpSp>
        <p:nvGrpSpPr>
          <p:cNvPr id="3" name="Google Shape;170;p14">
            <a:extLst>
              <a:ext uri="{FF2B5EF4-FFF2-40B4-BE49-F238E27FC236}">
                <a16:creationId xmlns="" xmlns:a16="http://schemas.microsoft.com/office/drawing/2014/main" id="{42960A1E-ADE1-4084-4DF9-58629CCF3302}"/>
              </a:ext>
            </a:extLst>
          </p:cNvPr>
          <p:cNvGrpSpPr/>
          <p:nvPr/>
        </p:nvGrpSpPr>
        <p:grpSpPr>
          <a:xfrm>
            <a:off x="537029" y="2292716"/>
            <a:ext cx="6128814" cy="1017084"/>
            <a:chOff x="-896897" y="-99548"/>
            <a:chExt cx="2276120" cy="267874"/>
          </a:xfrm>
        </p:grpSpPr>
        <p:sp>
          <p:nvSpPr>
            <p:cNvPr id="4" name="Google Shape;171;p14">
              <a:extLst>
                <a:ext uri="{FF2B5EF4-FFF2-40B4-BE49-F238E27FC236}">
                  <a16:creationId xmlns="" xmlns:a16="http://schemas.microsoft.com/office/drawing/2014/main" id="{367040C7-D8C6-59CC-D031-AF3739E24EA6}"/>
                </a:ext>
              </a:extLst>
            </p:cNvPr>
            <p:cNvSpPr/>
            <p:nvPr/>
          </p:nvSpPr>
          <p:spPr>
            <a:xfrm>
              <a:off x="-808299" y="-73560"/>
              <a:ext cx="2187522" cy="229774"/>
            </a:xfrm>
            <a:custGeom>
              <a:avLst/>
              <a:gdLst/>
              <a:ahLst/>
              <a:cxnLst/>
              <a:rect l="l" t="t" r="r" b="b"/>
              <a:pathLst>
                <a:path w="2187522" h="229774" extrusionOk="0">
                  <a:moveTo>
                    <a:pt x="18642" y="0"/>
                  </a:moveTo>
                  <a:lnTo>
                    <a:pt x="2168879" y="0"/>
                  </a:lnTo>
                  <a:cubicBezTo>
                    <a:pt x="2179175" y="0"/>
                    <a:pt x="2187522" y="8346"/>
                    <a:pt x="2187522" y="18642"/>
                  </a:cubicBezTo>
                  <a:lnTo>
                    <a:pt x="2187522" y="211132"/>
                  </a:lnTo>
                  <a:cubicBezTo>
                    <a:pt x="2187522" y="221428"/>
                    <a:pt x="2179175" y="229774"/>
                    <a:pt x="2168879" y="229774"/>
                  </a:cubicBezTo>
                  <a:lnTo>
                    <a:pt x="18642" y="229774"/>
                  </a:lnTo>
                  <a:cubicBezTo>
                    <a:pt x="8346" y="229774"/>
                    <a:pt x="0" y="221428"/>
                    <a:pt x="0" y="211132"/>
                  </a:cubicBezTo>
                  <a:lnTo>
                    <a:pt x="0" y="18642"/>
                  </a:lnTo>
                  <a:cubicBezTo>
                    <a:pt x="0" y="8346"/>
                    <a:pt x="8346" y="0"/>
                    <a:pt x="18642"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2;p14">
              <a:extLst>
                <a:ext uri="{FF2B5EF4-FFF2-40B4-BE49-F238E27FC236}">
                  <a16:creationId xmlns="" xmlns:a16="http://schemas.microsoft.com/office/drawing/2014/main" id="{95A31551-56CB-CB6D-7C0B-2B445DE50ED8}"/>
                </a:ext>
              </a:extLst>
            </p:cNvPr>
            <p:cNvSpPr txBox="1"/>
            <p:nvPr/>
          </p:nvSpPr>
          <p:spPr>
            <a:xfrm>
              <a:off x="-896897" y="-99548"/>
              <a:ext cx="2187521" cy="267874"/>
            </a:xfrm>
            <a:prstGeom prst="rect">
              <a:avLst/>
            </a:prstGeom>
            <a:noFill/>
            <a:ln>
              <a:noFill/>
            </a:ln>
          </p:spPr>
          <p:txBody>
            <a:bodyPr spcFirstLastPara="1" wrap="square" lIns="50800" tIns="50800" rIns="50800" bIns="50800" anchor="ctr" anchorCtr="0">
              <a:noAutofit/>
            </a:bodyPr>
            <a:lstStyle/>
            <a:p>
              <a:pPr algn="ctr">
                <a:lnSpc>
                  <a:spcPct val="155555"/>
                </a:lnSpc>
              </a:pPr>
              <a:r>
                <a:rPr lang="en-US" sz="3600" b="1" dirty="0"/>
                <a:t>Who Will get benefits?</a:t>
              </a:r>
            </a:p>
          </p:txBody>
        </p:sp>
      </p:grpSp>
      <p:grpSp>
        <p:nvGrpSpPr>
          <p:cNvPr id="6" name="Google Shape;170;p14">
            <a:extLst>
              <a:ext uri="{FF2B5EF4-FFF2-40B4-BE49-F238E27FC236}">
                <a16:creationId xmlns="" xmlns:a16="http://schemas.microsoft.com/office/drawing/2014/main" id="{03D93D86-63DA-32D5-F8B7-763E6A38C585}"/>
              </a:ext>
            </a:extLst>
          </p:cNvPr>
          <p:cNvGrpSpPr/>
          <p:nvPr/>
        </p:nvGrpSpPr>
        <p:grpSpPr>
          <a:xfrm>
            <a:off x="574121" y="5547152"/>
            <a:ext cx="7286810" cy="1017084"/>
            <a:chOff x="-828492" y="-103453"/>
            <a:chExt cx="2207715" cy="267874"/>
          </a:xfrm>
        </p:grpSpPr>
        <p:sp>
          <p:nvSpPr>
            <p:cNvPr id="7" name="Google Shape;171;p14">
              <a:extLst>
                <a:ext uri="{FF2B5EF4-FFF2-40B4-BE49-F238E27FC236}">
                  <a16:creationId xmlns="" xmlns:a16="http://schemas.microsoft.com/office/drawing/2014/main" id="{E7EC6047-D940-2F0B-E723-16964F0C1144}"/>
                </a:ext>
              </a:extLst>
            </p:cNvPr>
            <p:cNvSpPr/>
            <p:nvPr/>
          </p:nvSpPr>
          <p:spPr>
            <a:xfrm>
              <a:off x="-808299" y="-73560"/>
              <a:ext cx="2187522" cy="229774"/>
            </a:xfrm>
            <a:custGeom>
              <a:avLst/>
              <a:gdLst/>
              <a:ahLst/>
              <a:cxnLst/>
              <a:rect l="l" t="t" r="r" b="b"/>
              <a:pathLst>
                <a:path w="2187522" h="229774" extrusionOk="0">
                  <a:moveTo>
                    <a:pt x="18642" y="0"/>
                  </a:moveTo>
                  <a:lnTo>
                    <a:pt x="2168879" y="0"/>
                  </a:lnTo>
                  <a:cubicBezTo>
                    <a:pt x="2179175" y="0"/>
                    <a:pt x="2187522" y="8346"/>
                    <a:pt x="2187522" y="18642"/>
                  </a:cubicBezTo>
                  <a:lnTo>
                    <a:pt x="2187522" y="211132"/>
                  </a:lnTo>
                  <a:cubicBezTo>
                    <a:pt x="2187522" y="221428"/>
                    <a:pt x="2179175" y="229774"/>
                    <a:pt x="2168879" y="229774"/>
                  </a:cubicBezTo>
                  <a:lnTo>
                    <a:pt x="18642" y="229774"/>
                  </a:lnTo>
                  <a:cubicBezTo>
                    <a:pt x="8346" y="229774"/>
                    <a:pt x="0" y="221428"/>
                    <a:pt x="0" y="211132"/>
                  </a:cubicBezTo>
                  <a:lnTo>
                    <a:pt x="0" y="18642"/>
                  </a:lnTo>
                  <a:cubicBezTo>
                    <a:pt x="0" y="8346"/>
                    <a:pt x="8346" y="0"/>
                    <a:pt x="18642"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2;p14">
              <a:extLst>
                <a:ext uri="{FF2B5EF4-FFF2-40B4-BE49-F238E27FC236}">
                  <a16:creationId xmlns="" xmlns:a16="http://schemas.microsoft.com/office/drawing/2014/main" id="{45F5EFDC-BBE5-51BD-77DD-34BA06394DA7}"/>
                </a:ext>
              </a:extLst>
            </p:cNvPr>
            <p:cNvSpPr txBox="1"/>
            <p:nvPr/>
          </p:nvSpPr>
          <p:spPr>
            <a:xfrm>
              <a:off x="-828492" y="-103453"/>
              <a:ext cx="2187521" cy="267874"/>
            </a:xfrm>
            <a:prstGeom prst="rect">
              <a:avLst/>
            </a:prstGeom>
            <a:noFill/>
            <a:ln>
              <a:noFill/>
            </a:ln>
          </p:spPr>
          <p:txBody>
            <a:bodyPr spcFirstLastPara="1" wrap="square" lIns="50800" tIns="50800" rIns="50800" bIns="50800" anchor="ctr" anchorCtr="0">
              <a:noAutofit/>
            </a:bodyPr>
            <a:lstStyle/>
            <a:p>
              <a:pPr algn="ctr">
                <a:lnSpc>
                  <a:spcPct val="155555"/>
                </a:lnSpc>
              </a:pPr>
              <a:r>
                <a:rPr lang="en-US" sz="3600" b="1" dirty="0"/>
                <a:t>What changes after </a:t>
              </a:r>
              <a:r>
                <a:rPr lang="en-US" sz="3600" b="1" dirty="0" err="1"/>
                <a:t>Medsumm</a:t>
              </a:r>
              <a:r>
                <a:rPr lang="en-US" sz="3600" b="1" dirty="0"/>
                <a:t>?</a:t>
              </a:r>
            </a:p>
          </p:txBody>
        </p:sp>
      </p:grpSp>
      <p:sp>
        <p:nvSpPr>
          <p:cNvPr id="9" name="Google Shape;150;p13">
            <a:extLst>
              <a:ext uri="{FF2B5EF4-FFF2-40B4-BE49-F238E27FC236}">
                <a16:creationId xmlns="" xmlns:a16="http://schemas.microsoft.com/office/drawing/2014/main" id="{2F606539-FA28-8B69-BCA2-23F71FBE8395}"/>
              </a:ext>
            </a:extLst>
          </p:cNvPr>
          <p:cNvSpPr/>
          <p:nvPr/>
        </p:nvSpPr>
        <p:spPr>
          <a:xfrm>
            <a:off x="0" y="26671"/>
            <a:ext cx="1672695" cy="1672695"/>
          </a:xfrm>
          <a:custGeom>
            <a:avLst/>
            <a:gdLst/>
            <a:ahLst/>
            <a:cxnLst/>
            <a:rect l="l" t="t" r="r" b="b"/>
            <a:pathLst>
              <a:path w="1672695" h="1672695" extrusionOk="0">
                <a:moveTo>
                  <a:pt x="0" y="0"/>
                </a:moveTo>
                <a:lnTo>
                  <a:pt x="1672695" y="0"/>
                </a:lnTo>
                <a:lnTo>
                  <a:pt x="1672695" y="1672695"/>
                </a:lnTo>
                <a:lnTo>
                  <a:pt x="0" y="1672695"/>
                </a:lnTo>
                <a:lnTo>
                  <a:pt x="0" y="0"/>
                </a:lnTo>
                <a:close/>
              </a:path>
            </a:pathLst>
          </a:custGeom>
          <a:blipFill rotWithShape="1">
            <a:blip r:embed="rId4">
              <a:alphaModFix/>
            </a:blip>
            <a:stretch>
              <a:fillRect/>
            </a:stretch>
          </a:blipFill>
          <a:ln>
            <a:noFill/>
          </a:ln>
        </p:spPr>
      </p:sp>
      <p:sp>
        <p:nvSpPr>
          <p:cNvPr id="10" name="Google Shape;150;p13">
            <a:extLst>
              <a:ext uri="{FF2B5EF4-FFF2-40B4-BE49-F238E27FC236}">
                <a16:creationId xmlns="" xmlns:a16="http://schemas.microsoft.com/office/drawing/2014/main" id="{1D3BE774-34BB-9063-4613-25CBD648E21C}"/>
              </a:ext>
            </a:extLst>
          </p:cNvPr>
          <p:cNvSpPr/>
          <p:nvPr/>
        </p:nvSpPr>
        <p:spPr>
          <a:xfrm rot="5400000">
            <a:off x="16615305" y="26671"/>
            <a:ext cx="1672695" cy="1672695"/>
          </a:xfrm>
          <a:custGeom>
            <a:avLst/>
            <a:gdLst/>
            <a:ahLst/>
            <a:cxnLst/>
            <a:rect l="l" t="t" r="r" b="b"/>
            <a:pathLst>
              <a:path w="1672695" h="1672695" extrusionOk="0">
                <a:moveTo>
                  <a:pt x="0" y="0"/>
                </a:moveTo>
                <a:lnTo>
                  <a:pt x="1672695" y="0"/>
                </a:lnTo>
                <a:lnTo>
                  <a:pt x="1672695" y="1672695"/>
                </a:lnTo>
                <a:lnTo>
                  <a:pt x="0" y="1672695"/>
                </a:lnTo>
                <a:lnTo>
                  <a:pt x="0" y="0"/>
                </a:lnTo>
                <a:close/>
              </a:path>
            </a:pathLst>
          </a:custGeom>
          <a:blipFill rotWithShape="1">
            <a:blip r:embed="rId4">
              <a:alphaModFix/>
            </a:blip>
            <a:stretch>
              <a:fillRect/>
            </a:stretch>
          </a:blipFill>
          <a:ln>
            <a:noFill/>
          </a:ln>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2" name="Google Shape;150;p13">
            <a:extLst>
              <a:ext uri="{FF2B5EF4-FFF2-40B4-BE49-F238E27FC236}">
                <a16:creationId xmlns="" xmlns:a16="http://schemas.microsoft.com/office/drawing/2014/main" id="{2073D0AE-D954-6C5A-8BDB-18F1F6DB826F}"/>
              </a:ext>
            </a:extLst>
          </p:cNvPr>
          <p:cNvSpPr/>
          <p:nvPr/>
        </p:nvSpPr>
        <p:spPr>
          <a:xfrm>
            <a:off x="187694" y="0"/>
            <a:ext cx="1672695" cy="1672695"/>
          </a:xfrm>
          <a:custGeom>
            <a:avLst/>
            <a:gdLst/>
            <a:ahLst/>
            <a:cxnLst/>
            <a:rect l="l" t="t" r="r" b="b"/>
            <a:pathLst>
              <a:path w="1672695" h="1672695" extrusionOk="0">
                <a:moveTo>
                  <a:pt x="0" y="0"/>
                </a:moveTo>
                <a:lnTo>
                  <a:pt x="1672695" y="0"/>
                </a:lnTo>
                <a:lnTo>
                  <a:pt x="1672695" y="1672695"/>
                </a:lnTo>
                <a:lnTo>
                  <a:pt x="0" y="1672695"/>
                </a:lnTo>
                <a:lnTo>
                  <a:pt x="0" y="0"/>
                </a:lnTo>
                <a:close/>
              </a:path>
            </a:pathLst>
          </a:custGeom>
          <a:blipFill rotWithShape="1">
            <a:blip r:embed="rId3">
              <a:alphaModFix/>
            </a:blip>
            <a:stretch>
              <a:fillRect/>
            </a:stretch>
          </a:blipFill>
          <a:ln>
            <a:noFill/>
          </a:ln>
        </p:spPr>
      </p:sp>
      <p:sp>
        <p:nvSpPr>
          <p:cNvPr id="3" name="Google Shape;150;p13">
            <a:extLst>
              <a:ext uri="{FF2B5EF4-FFF2-40B4-BE49-F238E27FC236}">
                <a16:creationId xmlns="" xmlns:a16="http://schemas.microsoft.com/office/drawing/2014/main" id="{11888111-8138-15A6-6B7D-60EC7595E6B8}"/>
              </a:ext>
            </a:extLst>
          </p:cNvPr>
          <p:cNvSpPr/>
          <p:nvPr/>
        </p:nvSpPr>
        <p:spPr>
          <a:xfrm rot="5400000">
            <a:off x="16427611" y="0"/>
            <a:ext cx="1672695" cy="1672695"/>
          </a:xfrm>
          <a:custGeom>
            <a:avLst/>
            <a:gdLst/>
            <a:ahLst/>
            <a:cxnLst/>
            <a:rect l="l" t="t" r="r" b="b"/>
            <a:pathLst>
              <a:path w="1672695" h="1672695" extrusionOk="0">
                <a:moveTo>
                  <a:pt x="0" y="0"/>
                </a:moveTo>
                <a:lnTo>
                  <a:pt x="1672695" y="0"/>
                </a:lnTo>
                <a:lnTo>
                  <a:pt x="1672695" y="1672695"/>
                </a:lnTo>
                <a:lnTo>
                  <a:pt x="0" y="1672695"/>
                </a:lnTo>
                <a:lnTo>
                  <a:pt x="0" y="0"/>
                </a:lnTo>
                <a:close/>
              </a:path>
            </a:pathLst>
          </a:custGeom>
          <a:blipFill rotWithShape="1">
            <a:blip r:embed="rId3">
              <a:alphaModFix/>
            </a:blip>
            <a:stretch>
              <a:fillRect/>
            </a:stretch>
          </a:blipFill>
          <a:ln>
            <a:noFill/>
          </a:ln>
        </p:spPr>
      </p:sp>
      <p:sp>
        <p:nvSpPr>
          <p:cNvPr id="11" name="TextBox 10">
            <a:extLst>
              <a:ext uri="{FF2B5EF4-FFF2-40B4-BE49-F238E27FC236}">
                <a16:creationId xmlns="" xmlns:a16="http://schemas.microsoft.com/office/drawing/2014/main" id="{101E9EDA-A128-C602-7E6F-C1CD1E3D511A}"/>
              </a:ext>
            </a:extLst>
          </p:cNvPr>
          <p:cNvSpPr txBox="1"/>
          <p:nvPr/>
        </p:nvSpPr>
        <p:spPr>
          <a:xfrm>
            <a:off x="1683657" y="2438698"/>
            <a:ext cx="14920686" cy="5755422"/>
          </a:xfrm>
          <a:prstGeom prst="rect">
            <a:avLst/>
          </a:prstGeom>
          <a:noFill/>
        </p:spPr>
        <p:txBody>
          <a:bodyPr wrap="square">
            <a:spAutoFit/>
          </a:bodyPr>
          <a:lstStyle/>
          <a:p>
            <a:pPr marL="571500" indent="-571500">
              <a:buFont typeface="Arial" panose="020B0604020202020204" pitchFamily="34" charset="0"/>
              <a:buChar char="•"/>
            </a:pPr>
            <a:r>
              <a:rPr lang="en-IN" sz="3200" dirty="0"/>
              <a:t>In Phase 1, we will pilot with college students and faculty to test the product.</a:t>
            </a:r>
          </a:p>
          <a:p>
            <a:pPr marL="571500" indent="-571500">
              <a:buFont typeface="Arial" panose="020B0604020202020204" pitchFamily="34" charset="0"/>
              <a:buChar char="•"/>
            </a:pPr>
            <a:r>
              <a:rPr lang="en-IN" sz="3200" dirty="0"/>
              <a:t> In Phase 2, we will expand to local clinics and family doctors in one city.</a:t>
            </a:r>
          </a:p>
          <a:p>
            <a:pPr marL="571500" indent="-571500">
              <a:buFont typeface="Arial" panose="020B0604020202020204" pitchFamily="34" charset="0"/>
              <a:buChar char="•"/>
            </a:pPr>
            <a:r>
              <a:rPr lang="en-IN" sz="3200" dirty="0"/>
              <a:t> In Phase 3, we will onboard multi-specialty hospitals.</a:t>
            </a:r>
          </a:p>
          <a:p>
            <a:pPr marL="571500" indent="-571500">
              <a:buFont typeface="Arial" panose="020B0604020202020204" pitchFamily="34" charset="0"/>
              <a:buChar char="•"/>
            </a:pPr>
            <a:r>
              <a:rPr lang="en-IN" sz="3200" dirty="0"/>
              <a:t> In Phase 4, we will integrate with existing teleconsultation platforms like </a:t>
            </a:r>
            <a:r>
              <a:rPr lang="en-IN" sz="3200" dirty="0" err="1"/>
              <a:t>Practo</a:t>
            </a:r>
            <a:r>
              <a:rPr lang="en-IN" sz="3200" dirty="0"/>
              <a:t> and Apollo so millions of users can access our summary feature automatically.                                                                                           </a:t>
            </a:r>
          </a:p>
          <a:p>
            <a:endParaRPr lang="en-IN" sz="3600" dirty="0"/>
          </a:p>
          <a:p>
            <a:r>
              <a:rPr lang="en-IN" sz="4400" b="1" dirty="0"/>
              <a:t>What is the market size?</a:t>
            </a:r>
          </a:p>
          <a:p>
            <a:pPr marL="571500" indent="-571500">
              <a:buFont typeface="Arial" panose="020B0604020202020204" pitchFamily="34" charset="0"/>
              <a:buChar char="•"/>
            </a:pPr>
            <a:r>
              <a:rPr lang="en-IN" sz="3200" dirty="0"/>
              <a:t>The India digital health market is expected to reach over 50 billion dollars by 2030. </a:t>
            </a:r>
            <a:r>
              <a:rPr lang="en-IN" sz="3200" dirty="0" err="1"/>
              <a:t>HealthBrief</a:t>
            </a:r>
            <a:r>
              <a:rPr lang="en-IN" sz="3200" dirty="0"/>
              <a:t> directly aligns with the Ayushman Bharat Digital Mission, which is India's national initiative for digital health records.</a:t>
            </a:r>
          </a:p>
        </p:txBody>
      </p:sp>
      <p:sp>
        <p:nvSpPr>
          <p:cNvPr id="13" name="TextBox 12">
            <a:extLst>
              <a:ext uri="{FF2B5EF4-FFF2-40B4-BE49-F238E27FC236}">
                <a16:creationId xmlns="" xmlns:a16="http://schemas.microsoft.com/office/drawing/2014/main" id="{6B421F9F-AA89-82E7-D607-4A1143558E4B}"/>
              </a:ext>
            </a:extLst>
          </p:cNvPr>
          <p:cNvSpPr txBox="1"/>
          <p:nvPr/>
        </p:nvSpPr>
        <p:spPr>
          <a:xfrm>
            <a:off x="1860389" y="1714233"/>
            <a:ext cx="9144000" cy="707886"/>
          </a:xfrm>
          <a:prstGeom prst="rect">
            <a:avLst/>
          </a:prstGeom>
          <a:noFill/>
        </p:spPr>
        <p:txBody>
          <a:bodyPr wrap="square">
            <a:spAutoFit/>
          </a:bodyPr>
          <a:lstStyle/>
          <a:p>
            <a:r>
              <a:rPr lang="en-IN" sz="4000" b="1" dirty="0"/>
              <a:t>How will </a:t>
            </a:r>
            <a:r>
              <a:rPr lang="en-IN" sz="4000" b="1" dirty="0" err="1"/>
              <a:t>Medsumm</a:t>
            </a:r>
            <a:r>
              <a:rPr lang="en-IN" sz="4000" b="1" dirty="0"/>
              <a:t> Grow? </a:t>
            </a:r>
          </a:p>
        </p:txBody>
      </p:sp>
      <p:sp>
        <p:nvSpPr>
          <p:cNvPr id="25" name="Google Shape;111;p11">
            <a:extLst>
              <a:ext uri="{FF2B5EF4-FFF2-40B4-BE49-F238E27FC236}">
                <a16:creationId xmlns="" xmlns:a16="http://schemas.microsoft.com/office/drawing/2014/main" id="{6D01A81E-8A06-A5BC-DD7A-156A6588EFC7}"/>
              </a:ext>
            </a:extLst>
          </p:cNvPr>
          <p:cNvSpPr/>
          <p:nvPr/>
        </p:nvSpPr>
        <p:spPr>
          <a:xfrm>
            <a:off x="4064001" y="470011"/>
            <a:ext cx="8490856" cy="942777"/>
          </a:xfrm>
          <a:custGeom>
            <a:avLst/>
            <a:gdLst/>
            <a:ahLst/>
            <a:cxnLst/>
            <a:rect l="l" t="t" r="r" b="b"/>
            <a:pathLst>
              <a:path w="1019652" h="248303" extrusionOk="0">
                <a:moveTo>
                  <a:pt x="39994" y="0"/>
                </a:moveTo>
                <a:lnTo>
                  <a:pt x="979658" y="0"/>
                </a:lnTo>
                <a:cubicBezTo>
                  <a:pt x="990265" y="0"/>
                  <a:pt x="1000438" y="4214"/>
                  <a:pt x="1007938" y="11714"/>
                </a:cubicBezTo>
                <a:cubicBezTo>
                  <a:pt x="1015439" y="19215"/>
                  <a:pt x="1019652" y="29387"/>
                  <a:pt x="1019652" y="39994"/>
                </a:cubicBezTo>
                <a:lnTo>
                  <a:pt x="1019652" y="208309"/>
                </a:lnTo>
                <a:cubicBezTo>
                  <a:pt x="1019652" y="230397"/>
                  <a:pt x="1001746" y="248303"/>
                  <a:pt x="979658" y="248303"/>
                </a:cubicBezTo>
                <a:lnTo>
                  <a:pt x="39994" y="248303"/>
                </a:lnTo>
                <a:cubicBezTo>
                  <a:pt x="29387" y="248303"/>
                  <a:pt x="19215" y="244090"/>
                  <a:pt x="11714" y="236589"/>
                </a:cubicBezTo>
                <a:cubicBezTo>
                  <a:pt x="4214" y="229089"/>
                  <a:pt x="0" y="218916"/>
                  <a:pt x="0" y="208309"/>
                </a:cubicBezTo>
                <a:lnTo>
                  <a:pt x="0" y="39994"/>
                </a:lnTo>
                <a:cubicBezTo>
                  <a:pt x="0" y="17906"/>
                  <a:pt x="17906" y="0"/>
                  <a:pt x="39994" y="0"/>
                </a:cubicBezTo>
                <a:close/>
              </a:path>
            </a:pathLst>
          </a:custGeom>
          <a:solidFill>
            <a:srgbClr val="2DCD9D"/>
          </a:solidFill>
          <a:ln>
            <a:noFill/>
          </a:ln>
        </p:spPr>
        <p:txBody>
          <a:bodyPr spcFirstLastPara="1" wrap="square" lIns="91425" tIns="91425" rIns="91425" bIns="91425" anchor="ctr" anchorCtr="0">
            <a:noAutofit/>
          </a:bodyPr>
          <a:lstStyle/>
          <a:p>
            <a:r>
              <a:rPr lang="en-IN" sz="4400" b="1" dirty="0"/>
              <a:t>SCALABILITY &amp; MARKECT FIT</a:t>
            </a:r>
            <a:endParaRPr sz="4400" b="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grpSp>
        <p:nvGrpSpPr>
          <p:cNvPr id="200" name="Google Shape;200;p16"/>
          <p:cNvGrpSpPr/>
          <p:nvPr/>
        </p:nvGrpSpPr>
        <p:grpSpPr>
          <a:xfrm>
            <a:off x="2132813" y="884039"/>
            <a:ext cx="12512101" cy="1218794"/>
            <a:chOff x="0" y="-38100"/>
            <a:chExt cx="1842304" cy="239822"/>
          </a:xfrm>
        </p:grpSpPr>
        <p:sp>
          <p:nvSpPr>
            <p:cNvPr id="201" name="Google Shape;201;p16"/>
            <p:cNvSpPr/>
            <p:nvPr/>
          </p:nvSpPr>
          <p:spPr>
            <a:xfrm>
              <a:off x="0" y="0"/>
              <a:ext cx="1842304" cy="201722"/>
            </a:xfrm>
            <a:custGeom>
              <a:avLst/>
              <a:gdLst/>
              <a:ahLst/>
              <a:cxnLst/>
              <a:rect l="l" t="t" r="r" b="b"/>
              <a:pathLst>
                <a:path w="1842304" h="201722" extrusionOk="0">
                  <a:moveTo>
                    <a:pt x="22136" y="0"/>
                  </a:moveTo>
                  <a:lnTo>
                    <a:pt x="1820169" y="0"/>
                  </a:lnTo>
                  <a:cubicBezTo>
                    <a:pt x="1832394" y="0"/>
                    <a:pt x="1842304" y="9910"/>
                    <a:pt x="1842304" y="22136"/>
                  </a:cubicBezTo>
                  <a:lnTo>
                    <a:pt x="1842304" y="179586"/>
                  </a:lnTo>
                  <a:cubicBezTo>
                    <a:pt x="1842304" y="191811"/>
                    <a:pt x="1832394" y="201722"/>
                    <a:pt x="1820169" y="201722"/>
                  </a:cubicBezTo>
                  <a:lnTo>
                    <a:pt x="22136" y="201722"/>
                  </a:lnTo>
                  <a:cubicBezTo>
                    <a:pt x="9910" y="201722"/>
                    <a:pt x="0" y="191811"/>
                    <a:pt x="0" y="179586"/>
                  </a:cubicBezTo>
                  <a:lnTo>
                    <a:pt x="0" y="22136"/>
                  </a:lnTo>
                  <a:cubicBezTo>
                    <a:pt x="0" y="9910"/>
                    <a:pt x="9910" y="0"/>
                    <a:pt x="22136" y="0"/>
                  </a:cubicBezTo>
                  <a:close/>
                </a:path>
              </a:pathLst>
            </a:custGeom>
            <a:solidFill>
              <a:srgbClr val="2DCD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6"/>
            <p:cNvSpPr txBox="1"/>
            <p:nvPr/>
          </p:nvSpPr>
          <p:spPr>
            <a:xfrm>
              <a:off x="0" y="-38100"/>
              <a:ext cx="1842304" cy="239821"/>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3" name="Google Shape;203;p16"/>
          <p:cNvSpPr txBox="1"/>
          <p:nvPr/>
        </p:nvSpPr>
        <p:spPr>
          <a:xfrm>
            <a:off x="876563" y="975870"/>
            <a:ext cx="15024600" cy="1218795"/>
          </a:xfrm>
          <a:prstGeom prst="rect">
            <a:avLst/>
          </a:prstGeom>
          <a:noFill/>
          <a:ln>
            <a:noFill/>
          </a:ln>
        </p:spPr>
        <p:txBody>
          <a:bodyPr spcFirstLastPara="1" wrap="square" lIns="0" tIns="0" rIns="0" bIns="0" anchor="t" anchorCtr="0">
            <a:spAutoFit/>
          </a:bodyPr>
          <a:lstStyle/>
          <a:p>
            <a:pPr algn="ctr">
              <a:lnSpc>
                <a:spcPct val="120000"/>
              </a:lnSpc>
            </a:pPr>
            <a:r>
              <a:rPr lang="en-IN" sz="6600" b="1" dirty="0"/>
              <a:t>Unique features in </a:t>
            </a:r>
            <a:r>
              <a:rPr lang="en-IN" sz="6600" b="1" dirty="0" err="1"/>
              <a:t>Medsumm</a:t>
            </a:r>
            <a:endParaRPr lang="en-IN" sz="6600" b="1" dirty="0"/>
          </a:p>
        </p:txBody>
      </p:sp>
      <p:sp>
        <p:nvSpPr>
          <p:cNvPr id="204" name="Google Shape;204;p16"/>
          <p:cNvSpPr/>
          <p:nvPr/>
        </p:nvSpPr>
        <p:spPr>
          <a:xfrm>
            <a:off x="16738775" y="461729"/>
            <a:ext cx="672662" cy="672662"/>
          </a:xfrm>
          <a:custGeom>
            <a:avLst/>
            <a:gdLst/>
            <a:ahLst/>
            <a:cxnLst/>
            <a:rect l="l" t="t" r="r" b="b"/>
            <a:pathLst>
              <a:path w="672662" h="672662" extrusionOk="0">
                <a:moveTo>
                  <a:pt x="0" y="0"/>
                </a:moveTo>
                <a:lnTo>
                  <a:pt x="672662" y="0"/>
                </a:lnTo>
                <a:lnTo>
                  <a:pt x="672662" y="672662"/>
                </a:lnTo>
                <a:lnTo>
                  <a:pt x="0" y="672662"/>
                </a:lnTo>
                <a:lnTo>
                  <a:pt x="0" y="0"/>
                </a:lnTo>
                <a:close/>
              </a:path>
            </a:pathLst>
          </a:custGeom>
          <a:blipFill rotWithShape="1">
            <a:blip r:embed="rId3">
              <a:alphaModFix/>
            </a:blip>
            <a:stretch>
              <a:fillRect/>
            </a:stretch>
          </a:blipFill>
          <a:ln>
            <a:noFill/>
          </a:ln>
        </p:spPr>
      </p:sp>
      <p:sp>
        <p:nvSpPr>
          <p:cNvPr id="3" name="TextBox 2">
            <a:extLst>
              <a:ext uri="{FF2B5EF4-FFF2-40B4-BE49-F238E27FC236}">
                <a16:creationId xmlns="" xmlns:a16="http://schemas.microsoft.com/office/drawing/2014/main" id="{E06ED79D-79E8-FCD6-C020-641B173004E8}"/>
              </a:ext>
            </a:extLst>
          </p:cNvPr>
          <p:cNvSpPr txBox="1"/>
          <p:nvPr/>
        </p:nvSpPr>
        <p:spPr>
          <a:xfrm>
            <a:off x="1439425" y="2468901"/>
            <a:ext cx="12511314" cy="5509200"/>
          </a:xfrm>
          <a:prstGeom prst="rect">
            <a:avLst/>
          </a:prstGeom>
          <a:noFill/>
        </p:spPr>
        <p:txBody>
          <a:bodyPr wrap="square">
            <a:spAutoFit/>
          </a:bodyPr>
          <a:lstStyle/>
          <a:p>
            <a:pPr marL="514350" indent="-514350">
              <a:buFont typeface="+mj-lt"/>
              <a:buAutoNum type="arabicPeriod"/>
            </a:pPr>
            <a:r>
              <a:rPr lang="en-IN" sz="3200" b="1" dirty="0"/>
              <a:t>Offline</a:t>
            </a:r>
            <a:r>
              <a:rPr lang="en-IN" sz="3200" dirty="0"/>
              <a:t>— patients in villages with no internet can still upload reports; the system syncs later</a:t>
            </a:r>
          </a:p>
          <a:p>
            <a:pPr marL="514350" indent="-514350">
              <a:buFont typeface="+mj-lt"/>
              <a:buAutoNum type="arabicPeriod"/>
            </a:pPr>
            <a:endParaRPr lang="en-IN" sz="3200" dirty="0"/>
          </a:p>
          <a:p>
            <a:pPr marL="514350" indent="-514350">
              <a:buFont typeface="+mj-lt"/>
              <a:buAutoNum type="arabicPeriod"/>
            </a:pPr>
            <a:r>
              <a:rPr lang="en-IN" sz="3200" b="1" dirty="0"/>
              <a:t>Voice input for elderly </a:t>
            </a:r>
            <a:r>
              <a:rPr lang="en-IN" sz="3200" dirty="0"/>
              <a:t>— patients can speak their symptoms or medicines, and AI converts it to text</a:t>
            </a:r>
          </a:p>
          <a:p>
            <a:pPr marL="514350" indent="-514350">
              <a:buFont typeface="+mj-lt"/>
              <a:buAutoNum type="arabicPeriod"/>
            </a:pPr>
            <a:endParaRPr lang="en-IN" sz="3200" dirty="0"/>
          </a:p>
          <a:p>
            <a:pPr marL="514350" indent="-514350">
              <a:buFont typeface="+mj-lt"/>
              <a:buAutoNum type="arabicPeriod"/>
            </a:pPr>
            <a:r>
              <a:rPr lang="en-IN" sz="3200" b="1" dirty="0"/>
              <a:t>Color-coded summary </a:t>
            </a:r>
            <a:r>
              <a:rPr lang="en-IN" sz="3200" dirty="0"/>
              <a:t>— red for allergies/danger, yellow for warnings, green for normal. Any doctor understands in 5 seconds</a:t>
            </a:r>
          </a:p>
          <a:p>
            <a:pPr marL="514350" indent="-514350">
              <a:buFont typeface="+mj-lt"/>
              <a:buAutoNum type="arabicPeriod"/>
            </a:pPr>
            <a:endParaRPr lang="en-IN" sz="3200" dirty="0"/>
          </a:p>
          <a:p>
            <a:pPr marL="514350" indent="-514350">
              <a:buFont typeface="+mj-lt"/>
              <a:buAutoNum type="arabicPeriod"/>
            </a:pPr>
            <a:r>
              <a:rPr lang="en-IN" sz="3200" b="1" dirty="0"/>
              <a:t>ABHA integration </a:t>
            </a:r>
            <a:r>
              <a:rPr lang="en-IN" sz="3200" dirty="0"/>
              <a:t>— </a:t>
            </a:r>
            <a:r>
              <a:rPr lang="en-IN" sz="3200" dirty="0" err="1" smtClean="0"/>
              <a:t>medsumm</a:t>
            </a:r>
            <a:r>
              <a:rPr lang="en-IN" sz="3200" dirty="0" smtClean="0"/>
              <a:t> </a:t>
            </a:r>
            <a:r>
              <a:rPr lang="en-IN" sz="3200" dirty="0"/>
              <a:t>can become the front-end for India's Ayushman Bharat Digital Mission</a:t>
            </a:r>
          </a:p>
        </p:txBody>
      </p:sp>
      <p:sp>
        <p:nvSpPr>
          <p:cNvPr id="4" name="Google Shape;204;p16">
            <a:extLst>
              <a:ext uri="{FF2B5EF4-FFF2-40B4-BE49-F238E27FC236}">
                <a16:creationId xmlns="" xmlns:a16="http://schemas.microsoft.com/office/drawing/2014/main" id="{CC7DE5DB-D3B0-C6AC-9771-177B7745F6A3}"/>
              </a:ext>
            </a:extLst>
          </p:cNvPr>
          <p:cNvSpPr/>
          <p:nvPr/>
        </p:nvSpPr>
        <p:spPr>
          <a:xfrm>
            <a:off x="16738775" y="8792929"/>
            <a:ext cx="672662" cy="672662"/>
          </a:xfrm>
          <a:custGeom>
            <a:avLst/>
            <a:gdLst/>
            <a:ahLst/>
            <a:cxnLst/>
            <a:rect l="l" t="t" r="r" b="b"/>
            <a:pathLst>
              <a:path w="672662" h="672662" extrusionOk="0">
                <a:moveTo>
                  <a:pt x="0" y="0"/>
                </a:moveTo>
                <a:lnTo>
                  <a:pt x="672662" y="0"/>
                </a:lnTo>
                <a:lnTo>
                  <a:pt x="672662" y="672662"/>
                </a:lnTo>
                <a:lnTo>
                  <a:pt x="0" y="672662"/>
                </a:lnTo>
                <a:lnTo>
                  <a:pt x="0" y="0"/>
                </a:lnTo>
                <a:close/>
              </a:path>
            </a:pathLst>
          </a:custGeom>
          <a:blipFill rotWithShape="1">
            <a:blip r:embed="rId3">
              <a:alphaModFix/>
            </a:blip>
            <a:stretch>
              <a:fillRect/>
            </a:stretch>
          </a:blipFill>
          <a:ln>
            <a:noFill/>
          </a:ln>
        </p:spPr>
      </p:sp>
      <p:sp>
        <p:nvSpPr>
          <p:cNvPr id="5" name="Google Shape;204;p16">
            <a:extLst>
              <a:ext uri="{FF2B5EF4-FFF2-40B4-BE49-F238E27FC236}">
                <a16:creationId xmlns="" xmlns:a16="http://schemas.microsoft.com/office/drawing/2014/main" id="{68BE70CC-C0C7-CD01-3639-AAD27DFC64D4}"/>
              </a:ext>
            </a:extLst>
          </p:cNvPr>
          <p:cNvSpPr/>
          <p:nvPr/>
        </p:nvSpPr>
        <p:spPr>
          <a:xfrm>
            <a:off x="766763" y="8792929"/>
            <a:ext cx="672662" cy="672662"/>
          </a:xfrm>
          <a:custGeom>
            <a:avLst/>
            <a:gdLst/>
            <a:ahLst/>
            <a:cxnLst/>
            <a:rect l="l" t="t" r="r" b="b"/>
            <a:pathLst>
              <a:path w="672662" h="672662" extrusionOk="0">
                <a:moveTo>
                  <a:pt x="0" y="0"/>
                </a:moveTo>
                <a:lnTo>
                  <a:pt x="672662" y="0"/>
                </a:lnTo>
                <a:lnTo>
                  <a:pt x="672662" y="672662"/>
                </a:lnTo>
                <a:lnTo>
                  <a:pt x="0" y="672662"/>
                </a:lnTo>
                <a:lnTo>
                  <a:pt x="0" y="0"/>
                </a:lnTo>
                <a:close/>
              </a:path>
            </a:pathLst>
          </a:custGeom>
          <a:blipFill rotWithShape="1">
            <a:blip r:embed="rId3">
              <a:alphaModFix/>
            </a:blip>
            <a:stretch>
              <a:fillRect/>
            </a:stretch>
          </a:blipFill>
          <a:ln>
            <a:noFill/>
          </a:ln>
        </p:spPr>
      </p:sp>
      <p:sp>
        <p:nvSpPr>
          <p:cNvPr id="6" name="Google Shape;204;p16">
            <a:extLst>
              <a:ext uri="{FF2B5EF4-FFF2-40B4-BE49-F238E27FC236}">
                <a16:creationId xmlns="" xmlns:a16="http://schemas.microsoft.com/office/drawing/2014/main" id="{301F061A-7F8A-219D-A53F-585EAF4BCA9C}"/>
              </a:ext>
            </a:extLst>
          </p:cNvPr>
          <p:cNvSpPr/>
          <p:nvPr/>
        </p:nvSpPr>
        <p:spPr>
          <a:xfrm>
            <a:off x="749552" y="419293"/>
            <a:ext cx="672662" cy="672662"/>
          </a:xfrm>
          <a:custGeom>
            <a:avLst/>
            <a:gdLst/>
            <a:ahLst/>
            <a:cxnLst/>
            <a:rect l="l" t="t" r="r" b="b"/>
            <a:pathLst>
              <a:path w="672662" h="672662" extrusionOk="0">
                <a:moveTo>
                  <a:pt x="0" y="0"/>
                </a:moveTo>
                <a:lnTo>
                  <a:pt x="672662" y="0"/>
                </a:lnTo>
                <a:lnTo>
                  <a:pt x="672662" y="672662"/>
                </a:lnTo>
                <a:lnTo>
                  <a:pt x="0" y="672662"/>
                </a:lnTo>
                <a:lnTo>
                  <a:pt x="0" y="0"/>
                </a:lnTo>
                <a:close/>
              </a:path>
            </a:pathLst>
          </a:custGeom>
          <a:blipFill rotWithShape="1">
            <a:blip r:embed="rId3">
              <a:alphaModFix/>
            </a:blip>
            <a:stretch>
              <a:fillRect/>
            </a:stretch>
          </a:blipFill>
          <a:ln>
            <a:noFill/>
          </a:ln>
        </p:spPr>
      </p:sp>
      <p:grpSp>
        <p:nvGrpSpPr>
          <p:cNvPr id="7" name="Google Shape;86;p10">
            <a:extLst>
              <a:ext uri="{FF2B5EF4-FFF2-40B4-BE49-F238E27FC236}">
                <a16:creationId xmlns="" xmlns:a16="http://schemas.microsoft.com/office/drawing/2014/main" id="{DB7E0670-42BE-CB71-99D3-12954625AF2D}"/>
              </a:ext>
            </a:extLst>
          </p:cNvPr>
          <p:cNvGrpSpPr/>
          <p:nvPr/>
        </p:nvGrpSpPr>
        <p:grpSpPr>
          <a:xfrm rot="5400000">
            <a:off x="13048727" y="3400874"/>
            <a:ext cx="6171244" cy="4307302"/>
            <a:chOff x="0" y="-47625"/>
            <a:chExt cx="1634336" cy="2786200"/>
          </a:xfrm>
        </p:grpSpPr>
        <p:sp>
          <p:nvSpPr>
            <p:cNvPr id="8" name="Google Shape;87;p10">
              <a:extLst>
                <a:ext uri="{FF2B5EF4-FFF2-40B4-BE49-F238E27FC236}">
                  <a16:creationId xmlns="" xmlns:a16="http://schemas.microsoft.com/office/drawing/2014/main" id="{65EF6A2B-2F76-4007-04F3-C563F2083B2F}"/>
                </a:ext>
              </a:extLst>
            </p:cNvPr>
            <p:cNvSpPr/>
            <p:nvPr/>
          </p:nvSpPr>
          <p:spPr>
            <a:xfrm>
              <a:off x="0" y="0"/>
              <a:ext cx="1634336" cy="2738575"/>
            </a:xfrm>
            <a:custGeom>
              <a:avLst/>
              <a:gdLst/>
              <a:ahLst/>
              <a:cxnLst/>
              <a:rect l="l" t="t" r="r" b="b"/>
              <a:pathLst>
                <a:path w="1634336" h="2738575" extrusionOk="0">
                  <a:moveTo>
                    <a:pt x="0" y="0"/>
                  </a:moveTo>
                  <a:lnTo>
                    <a:pt x="1634336" y="0"/>
                  </a:lnTo>
                  <a:lnTo>
                    <a:pt x="1634336" y="2738575"/>
                  </a:lnTo>
                  <a:lnTo>
                    <a:pt x="0" y="2738575"/>
                  </a:lnTo>
                  <a:close/>
                </a:path>
              </a:pathLst>
            </a:custGeom>
            <a:solidFill>
              <a:srgbClr val="2DCD9D"/>
            </a:solidFill>
            <a:ln>
              <a:noFill/>
            </a:ln>
          </p:spPr>
        </p:sp>
        <p:sp>
          <p:nvSpPr>
            <p:cNvPr id="9" name="Google Shape;88;p10">
              <a:extLst>
                <a:ext uri="{FF2B5EF4-FFF2-40B4-BE49-F238E27FC236}">
                  <a16:creationId xmlns="" xmlns:a16="http://schemas.microsoft.com/office/drawing/2014/main" id="{4B4181CE-3438-6878-A1DC-A8DCCB28B0E3}"/>
                </a:ext>
              </a:extLst>
            </p:cNvPr>
            <p:cNvSpPr txBox="1"/>
            <p:nvPr/>
          </p:nvSpPr>
          <p:spPr>
            <a:xfrm>
              <a:off x="0" y="-47625"/>
              <a:ext cx="1634336" cy="2786200"/>
            </a:xfrm>
            <a:prstGeom prst="rect">
              <a:avLst/>
            </a:prstGeom>
            <a:noFill/>
            <a:ln>
              <a:noFill/>
            </a:ln>
          </p:spPr>
          <p:txBody>
            <a:bodyPr spcFirstLastPara="1" wrap="square" lIns="50800" tIns="50800" rIns="50800" bIns="50800" anchor="ctr" anchorCtr="0">
              <a:noAutofit/>
            </a:bodyPr>
            <a:lstStyle/>
            <a:p>
              <a:pPr marL="0" marR="0" lvl="0" indent="0" algn="ctr" rtl="0">
                <a:lnSpc>
                  <a:spcPct val="14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pic>
        <p:nvPicPr>
          <p:cNvPr id="11" name="Picture 10">
            <a:extLst>
              <a:ext uri="{FF2B5EF4-FFF2-40B4-BE49-F238E27FC236}">
                <a16:creationId xmlns="" xmlns:a16="http://schemas.microsoft.com/office/drawing/2014/main" id="{83C2C955-AAE5-A3F8-B51A-7F586E515BE1}"/>
              </a:ext>
            </a:extLst>
          </p:cNvPr>
          <p:cNvPicPr>
            <a:picLocks noChangeAspect="1"/>
          </p:cNvPicPr>
          <p:nvPr/>
        </p:nvPicPr>
        <p:blipFill>
          <a:blip r:embed="rId4"/>
          <a:stretch>
            <a:fillRect/>
          </a:stretch>
        </p:blipFill>
        <p:spPr>
          <a:xfrm>
            <a:off x="14543314" y="3048000"/>
            <a:ext cx="3279175" cy="4770097"/>
          </a:xfrm>
          <a:prstGeom prst="rect">
            <a:avLst/>
          </a:prstGeom>
          <a:ln>
            <a:noFill/>
          </a:ln>
          <a:effectLst>
            <a:softEdge rad="11250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697</Words>
  <Application>Microsoft Office PowerPoint</Application>
  <PresentationFormat>Custom</PresentationFormat>
  <Paragraphs>83</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Calibri</vt:lpstr>
      <vt:lpstr>Modern No. 20</vt:lpstr>
      <vt:lpstr>Arial</vt:lpstr>
      <vt:lpstr>Bell MT</vt:lpstr>
      <vt:lpstr>News Cycle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hp</cp:lastModifiedBy>
  <cp:revision>6</cp:revision>
  <dcterms:modified xsi:type="dcterms:W3CDTF">2026-04-08T13:50:41Z</dcterms:modified>
</cp:coreProperties>
</file>